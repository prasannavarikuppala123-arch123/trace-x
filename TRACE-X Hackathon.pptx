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Anton" charset="1" panose="00000500000000000000"/>
      <p:regular r:id="rId14"/>
    </p:embeddedFont>
    <p:embeddedFont>
      <p:font typeface="Roboto Condensed" charset="1" panose="02000000000000000000"/>
      <p:regular r:id="rId15"/>
    </p:embeddedFont>
    <p:embeddedFont>
      <p:font typeface="Roboto Condensed Bold" charset="1" panose="02000000000000000000"/>
      <p:regular r:id="rId16"/>
    </p:embeddedFont>
    <p:embeddedFont>
      <p:font typeface="Roboto" charset="1" panose="02000000000000000000"/>
      <p:regular r:id="rId17"/>
    </p:embeddedFont>
    <p:embeddedFont>
      <p:font typeface="Roboto Bold" charset="1" panose="0200000000000000000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png" Type="http://schemas.openxmlformats.org/officeDocument/2006/relationships/image"/><Relationship Id="rId12" Target="../media/image11.png" Type="http://schemas.openxmlformats.org/officeDocument/2006/relationships/image"/><Relationship Id="rId13" Target="../media/image12.png" Type="http://schemas.openxmlformats.org/officeDocument/2006/relationships/image"/><Relationship Id="rId14" Target="../media/image13.pn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2.png" Type="http://schemas.openxmlformats.org/officeDocument/2006/relationships/image"/><Relationship Id="rId2" Target="../media/image14.png" Type="http://schemas.openxmlformats.org/officeDocument/2006/relationships/image"/><Relationship Id="rId3" Target="../media/image15.png" Type="http://schemas.openxmlformats.org/officeDocument/2006/relationships/image"/><Relationship Id="rId4" Target="../media/image16.png" Type="http://schemas.openxmlformats.org/officeDocument/2006/relationships/image"/><Relationship Id="rId5" Target="../media/image17.png" Type="http://schemas.openxmlformats.org/officeDocument/2006/relationships/image"/><Relationship Id="rId6" Target="../media/image18.png" Type="http://schemas.openxmlformats.org/officeDocument/2006/relationships/image"/><Relationship Id="rId7" Target="../media/image19.png" Type="http://schemas.openxmlformats.org/officeDocument/2006/relationships/image"/><Relationship Id="rId8" Target="../media/image20.png" Type="http://schemas.openxmlformats.org/officeDocument/2006/relationships/image"/><Relationship Id="rId9" Target="../media/image2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1.png" Type="http://schemas.openxmlformats.org/officeDocument/2006/relationships/image"/><Relationship Id="rId11" Target="../media/image32.png" Type="http://schemas.openxmlformats.org/officeDocument/2006/relationships/image"/><Relationship Id="rId12" Target="../media/image33.png" Type="http://schemas.openxmlformats.org/officeDocument/2006/relationships/image"/><Relationship Id="rId13" Target="../media/image34.png" Type="http://schemas.openxmlformats.org/officeDocument/2006/relationships/image"/><Relationship Id="rId14" Target="../media/image35.png" Type="http://schemas.openxmlformats.org/officeDocument/2006/relationships/image"/><Relationship Id="rId15" Target="../media/image36.png" Type="http://schemas.openxmlformats.org/officeDocument/2006/relationships/image"/><Relationship Id="rId16" Target="../media/image37.png" Type="http://schemas.openxmlformats.org/officeDocument/2006/relationships/image"/><Relationship Id="rId2" Target="../media/image23.png" Type="http://schemas.openxmlformats.org/officeDocument/2006/relationships/image"/><Relationship Id="rId3" Target="../media/image24.png" Type="http://schemas.openxmlformats.org/officeDocument/2006/relationships/image"/><Relationship Id="rId4" Target="../media/image25.png" Type="http://schemas.openxmlformats.org/officeDocument/2006/relationships/image"/><Relationship Id="rId5" Target="../media/image26.png" Type="http://schemas.openxmlformats.org/officeDocument/2006/relationships/image"/><Relationship Id="rId6" Target="../media/image27.png" Type="http://schemas.openxmlformats.org/officeDocument/2006/relationships/image"/><Relationship Id="rId7" Target="../media/image28.png" Type="http://schemas.openxmlformats.org/officeDocument/2006/relationships/image"/><Relationship Id="rId8" Target="../media/image29.png" Type="http://schemas.openxmlformats.org/officeDocument/2006/relationships/image"/><Relationship Id="rId9" Target="../media/image30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6.png" Type="http://schemas.openxmlformats.org/officeDocument/2006/relationships/image"/><Relationship Id="rId11" Target="../media/image47.png" Type="http://schemas.openxmlformats.org/officeDocument/2006/relationships/image"/><Relationship Id="rId12" Target="../media/image48.png" Type="http://schemas.openxmlformats.org/officeDocument/2006/relationships/image"/><Relationship Id="rId2" Target="../media/image38.png" Type="http://schemas.openxmlformats.org/officeDocument/2006/relationships/image"/><Relationship Id="rId3" Target="../media/image39.png" Type="http://schemas.openxmlformats.org/officeDocument/2006/relationships/image"/><Relationship Id="rId4" Target="../media/image40.png" Type="http://schemas.openxmlformats.org/officeDocument/2006/relationships/image"/><Relationship Id="rId5" Target="../media/image41.png" Type="http://schemas.openxmlformats.org/officeDocument/2006/relationships/image"/><Relationship Id="rId6" Target="../media/image42.png" Type="http://schemas.openxmlformats.org/officeDocument/2006/relationships/image"/><Relationship Id="rId7" Target="../media/image43.png" Type="http://schemas.openxmlformats.org/officeDocument/2006/relationships/image"/><Relationship Id="rId8" Target="../media/image44.png" Type="http://schemas.openxmlformats.org/officeDocument/2006/relationships/image"/><Relationship Id="rId9" Target="../media/image4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7.png" Type="http://schemas.openxmlformats.org/officeDocument/2006/relationships/image"/><Relationship Id="rId11" Target="../media/image58.png" Type="http://schemas.openxmlformats.org/officeDocument/2006/relationships/image"/><Relationship Id="rId12" Target="../media/image59.png" Type="http://schemas.openxmlformats.org/officeDocument/2006/relationships/image"/><Relationship Id="rId13" Target="../media/image60.png" Type="http://schemas.openxmlformats.org/officeDocument/2006/relationships/image"/><Relationship Id="rId14" Target="../media/image61.png" Type="http://schemas.openxmlformats.org/officeDocument/2006/relationships/image"/><Relationship Id="rId15" Target="../media/image62.png" Type="http://schemas.openxmlformats.org/officeDocument/2006/relationships/image"/><Relationship Id="rId2" Target="../media/image49.png" Type="http://schemas.openxmlformats.org/officeDocument/2006/relationships/image"/><Relationship Id="rId3" Target="../media/image50.png" Type="http://schemas.openxmlformats.org/officeDocument/2006/relationships/image"/><Relationship Id="rId4" Target="../media/image51.png" Type="http://schemas.openxmlformats.org/officeDocument/2006/relationships/image"/><Relationship Id="rId5" Target="../media/image52.png" Type="http://schemas.openxmlformats.org/officeDocument/2006/relationships/image"/><Relationship Id="rId6" Target="../media/image53.png" Type="http://schemas.openxmlformats.org/officeDocument/2006/relationships/image"/><Relationship Id="rId7" Target="../media/image54.png" Type="http://schemas.openxmlformats.org/officeDocument/2006/relationships/image"/><Relationship Id="rId8" Target="../media/image55.png" Type="http://schemas.openxmlformats.org/officeDocument/2006/relationships/image"/><Relationship Id="rId9" Target="../media/image5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1.png" Type="http://schemas.openxmlformats.org/officeDocument/2006/relationships/image"/><Relationship Id="rId11" Target="../media/image72.png" Type="http://schemas.openxmlformats.org/officeDocument/2006/relationships/image"/><Relationship Id="rId12" Target="../media/image73.png" Type="http://schemas.openxmlformats.org/officeDocument/2006/relationships/image"/><Relationship Id="rId13" Target="../media/image74.png" Type="http://schemas.openxmlformats.org/officeDocument/2006/relationships/image"/><Relationship Id="rId14" Target="../media/image75.png" Type="http://schemas.openxmlformats.org/officeDocument/2006/relationships/image"/><Relationship Id="rId15" Target="../media/image76.png" Type="http://schemas.openxmlformats.org/officeDocument/2006/relationships/image"/><Relationship Id="rId16" Target="../media/image77.png" Type="http://schemas.openxmlformats.org/officeDocument/2006/relationships/image"/><Relationship Id="rId17" Target="../media/image78.png" Type="http://schemas.openxmlformats.org/officeDocument/2006/relationships/image"/><Relationship Id="rId18" Target="../media/image79.png" Type="http://schemas.openxmlformats.org/officeDocument/2006/relationships/image"/><Relationship Id="rId19" Target="../media/image80.png" Type="http://schemas.openxmlformats.org/officeDocument/2006/relationships/image"/><Relationship Id="rId2" Target="../media/image63.png" Type="http://schemas.openxmlformats.org/officeDocument/2006/relationships/image"/><Relationship Id="rId20" Target="../media/image81.png" Type="http://schemas.openxmlformats.org/officeDocument/2006/relationships/image"/><Relationship Id="rId21" Target="../media/image82.png" Type="http://schemas.openxmlformats.org/officeDocument/2006/relationships/image"/><Relationship Id="rId22" Target="../media/image83.png" Type="http://schemas.openxmlformats.org/officeDocument/2006/relationships/image"/><Relationship Id="rId23" Target="../media/image84.png" Type="http://schemas.openxmlformats.org/officeDocument/2006/relationships/image"/><Relationship Id="rId24" Target="../media/image85.png" Type="http://schemas.openxmlformats.org/officeDocument/2006/relationships/image"/><Relationship Id="rId3" Target="../media/image64.png" Type="http://schemas.openxmlformats.org/officeDocument/2006/relationships/image"/><Relationship Id="rId4" Target="../media/image65.png" Type="http://schemas.openxmlformats.org/officeDocument/2006/relationships/image"/><Relationship Id="rId5" Target="../media/image66.png" Type="http://schemas.openxmlformats.org/officeDocument/2006/relationships/image"/><Relationship Id="rId6" Target="../media/image67.png" Type="http://schemas.openxmlformats.org/officeDocument/2006/relationships/image"/><Relationship Id="rId7" Target="../media/image68.png" Type="http://schemas.openxmlformats.org/officeDocument/2006/relationships/image"/><Relationship Id="rId8" Target="../media/image69.png" Type="http://schemas.openxmlformats.org/officeDocument/2006/relationships/image"/><Relationship Id="rId9" Target="../media/image70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4.png" Type="http://schemas.openxmlformats.org/officeDocument/2006/relationships/image"/><Relationship Id="rId11" Target="../media/image95.png" Type="http://schemas.openxmlformats.org/officeDocument/2006/relationships/image"/><Relationship Id="rId12" Target="../media/image96.png" Type="http://schemas.openxmlformats.org/officeDocument/2006/relationships/image"/><Relationship Id="rId13" Target="../media/image97.png" Type="http://schemas.openxmlformats.org/officeDocument/2006/relationships/image"/><Relationship Id="rId14" Target="../media/image98.png" Type="http://schemas.openxmlformats.org/officeDocument/2006/relationships/image"/><Relationship Id="rId15" Target="../media/image99.png" Type="http://schemas.openxmlformats.org/officeDocument/2006/relationships/image"/><Relationship Id="rId16" Target="../media/image100.png" Type="http://schemas.openxmlformats.org/officeDocument/2006/relationships/image"/><Relationship Id="rId17" Target="../media/image101.png" Type="http://schemas.openxmlformats.org/officeDocument/2006/relationships/image"/><Relationship Id="rId18" Target="../media/image102.png" Type="http://schemas.openxmlformats.org/officeDocument/2006/relationships/image"/><Relationship Id="rId19" Target="../media/image103.png" Type="http://schemas.openxmlformats.org/officeDocument/2006/relationships/image"/><Relationship Id="rId2" Target="../media/image86.png" Type="http://schemas.openxmlformats.org/officeDocument/2006/relationships/image"/><Relationship Id="rId20" Target="../media/image104.png" Type="http://schemas.openxmlformats.org/officeDocument/2006/relationships/image"/><Relationship Id="rId21" Target="../media/image105.png" Type="http://schemas.openxmlformats.org/officeDocument/2006/relationships/image"/><Relationship Id="rId22" Target="../media/image106.png" Type="http://schemas.openxmlformats.org/officeDocument/2006/relationships/image"/><Relationship Id="rId23" Target="../media/image107.png" Type="http://schemas.openxmlformats.org/officeDocument/2006/relationships/image"/><Relationship Id="rId24" Target="../media/image108.png" Type="http://schemas.openxmlformats.org/officeDocument/2006/relationships/image"/><Relationship Id="rId25" Target="../media/image109.png" Type="http://schemas.openxmlformats.org/officeDocument/2006/relationships/image"/><Relationship Id="rId26" Target="../media/image110.png" Type="http://schemas.openxmlformats.org/officeDocument/2006/relationships/image"/><Relationship Id="rId27" Target="../media/image111.png" Type="http://schemas.openxmlformats.org/officeDocument/2006/relationships/image"/><Relationship Id="rId28" Target="../media/image112.png" Type="http://schemas.openxmlformats.org/officeDocument/2006/relationships/image"/><Relationship Id="rId3" Target="../media/image87.png" Type="http://schemas.openxmlformats.org/officeDocument/2006/relationships/image"/><Relationship Id="rId4" Target="../media/image88.png" Type="http://schemas.openxmlformats.org/officeDocument/2006/relationships/image"/><Relationship Id="rId5" Target="../media/image89.png" Type="http://schemas.openxmlformats.org/officeDocument/2006/relationships/image"/><Relationship Id="rId6" Target="../media/image90.png" Type="http://schemas.openxmlformats.org/officeDocument/2006/relationships/image"/><Relationship Id="rId7" Target="../media/image91.png" Type="http://schemas.openxmlformats.org/officeDocument/2006/relationships/image"/><Relationship Id="rId8" Target="../media/image92.png" Type="http://schemas.openxmlformats.org/officeDocument/2006/relationships/image"/><Relationship Id="rId9" Target="../media/image9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3.png" Type="http://schemas.openxmlformats.org/officeDocument/2006/relationships/image"/><Relationship Id="rId3" Target="../media/image114.png" Type="http://schemas.openxmlformats.org/officeDocument/2006/relationships/image"/><Relationship Id="rId4" Target="../media/image115.png" Type="http://schemas.openxmlformats.org/officeDocument/2006/relationships/image"/><Relationship Id="rId5" Target="../media/image116.png" Type="http://schemas.openxmlformats.org/officeDocument/2006/relationships/image"/><Relationship Id="rId6" Target="../media/image117.png" Type="http://schemas.openxmlformats.org/officeDocument/2006/relationships/image"/><Relationship Id="rId7" Target="../media/image118.png" Type="http://schemas.openxmlformats.org/officeDocument/2006/relationships/image"/><Relationship Id="rId8" Target="../media/image119.png" Type="http://schemas.openxmlformats.org/officeDocument/2006/relationships/image"/><Relationship Id="rId9" Target="../media/image120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44000" y="426348"/>
            <a:ext cx="1093780" cy="1082267"/>
          </a:xfrm>
          <a:custGeom>
            <a:avLst/>
            <a:gdLst/>
            <a:ahLst/>
            <a:cxnLst/>
            <a:rect r="r" b="b" t="t" l="l"/>
            <a:pathLst>
              <a:path h="1082267" w="1093780">
                <a:moveTo>
                  <a:pt x="0" y="0"/>
                </a:moveTo>
                <a:lnTo>
                  <a:pt x="1093780" y="0"/>
                </a:lnTo>
                <a:lnTo>
                  <a:pt x="1093780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26842" y="1071335"/>
            <a:ext cx="1968804" cy="1289974"/>
          </a:xfrm>
          <a:custGeom>
            <a:avLst/>
            <a:gdLst/>
            <a:ahLst/>
            <a:cxnLst/>
            <a:rect r="r" b="b" t="t" l="l"/>
            <a:pathLst>
              <a:path h="1289974" w="1968804">
                <a:moveTo>
                  <a:pt x="0" y="0"/>
                </a:moveTo>
                <a:lnTo>
                  <a:pt x="1968804" y="0"/>
                </a:lnTo>
                <a:lnTo>
                  <a:pt x="1968804" y="1289974"/>
                </a:lnTo>
                <a:lnTo>
                  <a:pt x="0" y="128997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840976" y="426348"/>
            <a:ext cx="1312536" cy="1289974"/>
          </a:xfrm>
          <a:custGeom>
            <a:avLst/>
            <a:gdLst/>
            <a:ahLst/>
            <a:cxnLst/>
            <a:rect r="r" b="b" t="t" l="l"/>
            <a:pathLst>
              <a:path h="1289974" w="1312536">
                <a:moveTo>
                  <a:pt x="0" y="0"/>
                </a:moveTo>
                <a:lnTo>
                  <a:pt x="1312536" y="0"/>
                </a:lnTo>
                <a:lnTo>
                  <a:pt x="1312536" y="1289974"/>
                </a:lnTo>
                <a:lnTo>
                  <a:pt x="0" y="128997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319196" y="852695"/>
            <a:ext cx="1542230" cy="1300906"/>
          </a:xfrm>
          <a:custGeom>
            <a:avLst/>
            <a:gdLst/>
            <a:ahLst/>
            <a:cxnLst/>
            <a:rect r="r" b="b" t="t" l="l"/>
            <a:pathLst>
              <a:path h="1300906" w="1542230">
                <a:moveTo>
                  <a:pt x="0" y="0"/>
                </a:moveTo>
                <a:lnTo>
                  <a:pt x="1542230" y="0"/>
                </a:lnTo>
                <a:lnTo>
                  <a:pt x="1542230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4142574" y="1705390"/>
            <a:ext cx="1968804" cy="1727254"/>
          </a:xfrm>
          <a:custGeom>
            <a:avLst/>
            <a:gdLst/>
            <a:ahLst/>
            <a:cxnLst/>
            <a:rect r="r" b="b" t="t" l="l"/>
            <a:pathLst>
              <a:path h="1727254" w="1968804">
                <a:moveTo>
                  <a:pt x="0" y="0"/>
                </a:moveTo>
                <a:lnTo>
                  <a:pt x="1968804" y="0"/>
                </a:lnTo>
                <a:lnTo>
                  <a:pt x="1968804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5673866" y="3640352"/>
            <a:ext cx="2406316" cy="2153601"/>
          </a:xfrm>
          <a:custGeom>
            <a:avLst/>
            <a:gdLst/>
            <a:ahLst/>
            <a:cxnLst/>
            <a:rect r="r" b="b" t="t" l="l"/>
            <a:pathLst>
              <a:path h="2153601" w="2406316">
                <a:moveTo>
                  <a:pt x="0" y="0"/>
                </a:moveTo>
                <a:lnTo>
                  <a:pt x="2406316" y="0"/>
                </a:lnTo>
                <a:lnTo>
                  <a:pt x="2406316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7831464" y="4711687"/>
            <a:ext cx="2187560" cy="1934962"/>
          </a:xfrm>
          <a:custGeom>
            <a:avLst/>
            <a:gdLst/>
            <a:ahLst/>
            <a:cxnLst/>
            <a:rect r="r" b="b" t="t" l="l"/>
            <a:pathLst>
              <a:path h="1934962" w="2187560">
                <a:moveTo>
                  <a:pt x="0" y="0"/>
                </a:moveTo>
                <a:lnTo>
                  <a:pt x="2187560" y="0"/>
                </a:lnTo>
                <a:lnTo>
                  <a:pt x="2187560" y="1934961"/>
                </a:lnTo>
                <a:lnTo>
                  <a:pt x="0" y="193496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6529866" y="7280704"/>
            <a:ext cx="2614134" cy="2372241"/>
          </a:xfrm>
          <a:custGeom>
            <a:avLst/>
            <a:gdLst/>
            <a:ahLst/>
            <a:cxnLst/>
            <a:rect r="r" b="b" t="t" l="l"/>
            <a:pathLst>
              <a:path h="2372241" w="2614134">
                <a:moveTo>
                  <a:pt x="0" y="0"/>
                </a:moveTo>
                <a:lnTo>
                  <a:pt x="2614134" y="0"/>
                </a:lnTo>
                <a:lnTo>
                  <a:pt x="2614134" y="2372241"/>
                </a:lnTo>
                <a:lnTo>
                  <a:pt x="0" y="237224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0664354" y="7280704"/>
            <a:ext cx="2187560" cy="2372241"/>
          </a:xfrm>
          <a:custGeom>
            <a:avLst/>
            <a:gdLst/>
            <a:ahLst/>
            <a:cxnLst/>
            <a:rect r="r" b="b" t="t" l="l"/>
            <a:pathLst>
              <a:path h="2372241" w="2187560">
                <a:moveTo>
                  <a:pt x="0" y="0"/>
                </a:moveTo>
                <a:lnTo>
                  <a:pt x="2187560" y="0"/>
                </a:lnTo>
                <a:lnTo>
                  <a:pt x="2187560" y="2372241"/>
                </a:lnTo>
                <a:lnTo>
                  <a:pt x="0" y="2372241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0445598" y="2776725"/>
            <a:ext cx="1750048" cy="1945894"/>
          </a:xfrm>
          <a:custGeom>
            <a:avLst/>
            <a:gdLst/>
            <a:ahLst/>
            <a:cxnLst/>
            <a:rect r="r" b="b" t="t" l="l"/>
            <a:pathLst>
              <a:path h="1945894" w="1750048">
                <a:moveTo>
                  <a:pt x="0" y="0"/>
                </a:moveTo>
                <a:lnTo>
                  <a:pt x="1750048" y="0"/>
                </a:lnTo>
                <a:lnTo>
                  <a:pt x="1750048" y="1945893"/>
                </a:lnTo>
                <a:lnTo>
                  <a:pt x="0" y="1945893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4580086" y="7062064"/>
            <a:ext cx="2843828" cy="2372241"/>
          </a:xfrm>
          <a:custGeom>
            <a:avLst/>
            <a:gdLst/>
            <a:ahLst/>
            <a:cxnLst/>
            <a:rect r="r" b="b" t="t" l="l"/>
            <a:pathLst>
              <a:path h="2372241" w="2843828">
                <a:moveTo>
                  <a:pt x="0" y="0"/>
                </a:moveTo>
                <a:lnTo>
                  <a:pt x="2843828" y="0"/>
                </a:lnTo>
                <a:lnTo>
                  <a:pt x="2843828" y="2372241"/>
                </a:lnTo>
                <a:lnTo>
                  <a:pt x="0" y="2372241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702018" y="1552269"/>
            <a:ext cx="7486503" cy="24654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513"/>
              </a:lnSpc>
            </a:pPr>
            <a:r>
              <a:rPr lang="en-US" sz="18513" spc="370">
                <a:solidFill>
                  <a:srgbClr val="00A3FF"/>
                </a:solidFill>
                <a:latin typeface="Anton"/>
                <a:ea typeface="Anton"/>
                <a:cs typeface="Anton"/>
                <a:sym typeface="Anton"/>
              </a:rPr>
              <a:t>TRACE-X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48816" y="3652992"/>
            <a:ext cx="6201238" cy="1223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89"/>
              </a:lnSpc>
            </a:pPr>
            <a:r>
              <a:rPr lang="en-US" sz="4073" spc="81">
                <a:solidFill>
                  <a:srgbClr val="FFFFFF">
                    <a:alpha val="89804"/>
                  </a:srgbClr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Intelligent Cyber Incident Response &amp; Containment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864086" y="5356674"/>
            <a:ext cx="1104718" cy="218640"/>
          </a:xfrm>
          <a:custGeom>
            <a:avLst/>
            <a:gdLst/>
            <a:ahLst/>
            <a:cxnLst/>
            <a:rect r="r" b="b" t="t" l="l"/>
            <a:pathLst>
              <a:path h="218640" w="1104718">
                <a:moveTo>
                  <a:pt x="0" y="0"/>
                </a:moveTo>
                <a:lnTo>
                  <a:pt x="1104718" y="0"/>
                </a:lnTo>
                <a:lnTo>
                  <a:pt x="1104718" y="218639"/>
                </a:lnTo>
                <a:lnTo>
                  <a:pt x="0" y="21863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844035" y="5791631"/>
            <a:ext cx="6679320" cy="3486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74"/>
              </a:lnSpc>
            </a:pPr>
            <a:r>
              <a:rPr lang="en-US" sz="2311" spc="46" b="true">
                <a:solidFill>
                  <a:srgbClr val="00A3FF">
                    <a:alpha val="80000"/>
                  </a:srgbClr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Problem 92</a:t>
            </a:r>
            <a:r>
              <a:rPr lang="en-US" sz="2311" spc="46">
                <a:solidFill>
                  <a:srgbClr val="FFFFFF">
                    <a:alpha val="80000"/>
                  </a:srgbClr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— Cyber Incident Response Planner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89539" y="7056742"/>
            <a:ext cx="2128957" cy="295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3"/>
              </a:lnSpc>
            </a:pPr>
            <a:r>
              <a:rPr lang="en-US" sz="1986" spc="98">
                <a:solidFill>
                  <a:srgbClr val="00A3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TEAM MEMBERS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91101" y="7553750"/>
            <a:ext cx="1972736" cy="3486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74"/>
              </a:lnSpc>
            </a:pPr>
            <a:r>
              <a:rPr lang="en-US" sz="2311" spc="46">
                <a:solidFill>
                  <a:srgbClr val="FFFFFF">
                    <a:alpha val="89804"/>
                  </a:srgbClr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Aarav Sharma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93492" y="8035697"/>
            <a:ext cx="1733612" cy="3486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74"/>
              </a:lnSpc>
            </a:pPr>
            <a:r>
              <a:rPr lang="en-US" sz="2311" spc="46">
                <a:solidFill>
                  <a:srgbClr val="FFFFFF">
                    <a:alpha val="89804"/>
                  </a:srgbClr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Neha Verma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92233" y="8532704"/>
            <a:ext cx="1859475" cy="3486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74"/>
              </a:lnSpc>
            </a:pPr>
            <a:r>
              <a:rPr lang="en-US" sz="2311" spc="46">
                <a:solidFill>
                  <a:srgbClr val="FFFFFF">
                    <a:alpha val="89804"/>
                  </a:srgbClr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Rohan Mehta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94315" y="9014651"/>
            <a:ext cx="1651338" cy="3486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74"/>
              </a:lnSpc>
            </a:pPr>
            <a:r>
              <a:rPr lang="en-US" sz="2311" spc="46">
                <a:solidFill>
                  <a:srgbClr val="FFFFFF">
                    <a:alpha val="89804"/>
                  </a:srgbClr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Ishita Singh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23206" y="469619"/>
            <a:ext cx="8578660" cy="28915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13"/>
              </a:lnSpc>
            </a:pPr>
            <a:r>
              <a:rPr lang="en-US" sz="6426" spc="62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WHEN AN ATTACK HAPPENS, </a:t>
            </a:r>
            <a:r>
              <a:rPr lang="en-US" sz="6426" spc="62">
                <a:solidFill>
                  <a:srgbClr val="079CF6"/>
                </a:solidFill>
                <a:latin typeface="Anton"/>
                <a:ea typeface="Anton"/>
                <a:cs typeface="Anton"/>
                <a:sym typeface="Anton"/>
              </a:rPr>
              <a:t>DETECTION IS ONLY</a:t>
            </a:r>
          </a:p>
          <a:p>
            <a:pPr algn="l">
              <a:lnSpc>
                <a:spcPts val="7713"/>
              </a:lnSpc>
            </a:pPr>
            <a:r>
              <a:rPr lang="en-US" sz="6426" spc="62">
                <a:solidFill>
                  <a:srgbClr val="079CF6"/>
                </a:solidFill>
                <a:latin typeface="Anton"/>
                <a:ea typeface="Anton"/>
                <a:cs typeface="Anton"/>
                <a:sym typeface="Anton"/>
              </a:rPr>
              <a:t>THE BEGINNING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864086" y="3421712"/>
            <a:ext cx="8717426" cy="5159898"/>
          </a:xfrm>
          <a:custGeom>
            <a:avLst/>
            <a:gdLst/>
            <a:ahLst/>
            <a:cxnLst/>
            <a:rect r="r" b="b" t="t" l="l"/>
            <a:pathLst>
              <a:path h="5159898" w="8717426">
                <a:moveTo>
                  <a:pt x="0" y="0"/>
                </a:moveTo>
                <a:lnTo>
                  <a:pt x="8717426" y="0"/>
                </a:lnTo>
                <a:lnTo>
                  <a:pt x="8717426" y="5159898"/>
                </a:lnTo>
                <a:lnTo>
                  <a:pt x="0" y="515989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147656">
            <a:off x="3490458" y="4808694"/>
            <a:ext cx="1952225" cy="389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32"/>
              </a:lnSpc>
            </a:pPr>
            <a:r>
              <a:rPr lang="en-US" sz="2487" b="true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RANSOMWARE</a:t>
            </a:r>
          </a:p>
        </p:txBody>
      </p:sp>
      <p:sp>
        <p:nvSpPr>
          <p:cNvPr name="TextBox 6" id="6"/>
          <p:cNvSpPr txBox="true"/>
          <p:nvPr/>
        </p:nvSpPr>
        <p:spPr>
          <a:xfrm rot="147656">
            <a:off x="7140868" y="4808694"/>
            <a:ext cx="1242454" cy="389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32"/>
              </a:lnSpc>
            </a:pPr>
            <a:r>
              <a:rPr lang="en-US" sz="2487" b="true">
                <a:solidFill>
                  <a:srgbClr val="C2272D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CRITICAL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7831464" y="5138034"/>
            <a:ext cx="885962" cy="437279"/>
          </a:xfrm>
          <a:custGeom>
            <a:avLst/>
            <a:gdLst/>
            <a:ahLst/>
            <a:cxnLst/>
            <a:rect r="r" b="b" t="t" l="l"/>
            <a:pathLst>
              <a:path h="437279" w="885962">
                <a:moveTo>
                  <a:pt x="0" y="0"/>
                </a:moveTo>
                <a:lnTo>
                  <a:pt x="885962" y="0"/>
                </a:lnTo>
                <a:lnTo>
                  <a:pt x="885962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42187">
            <a:off x="3544037" y="5968367"/>
            <a:ext cx="1908307" cy="389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32"/>
              </a:lnSpc>
            </a:pPr>
            <a:r>
              <a:rPr lang="en-US" sz="2487" b="true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DATA BREACH</a:t>
            </a:r>
          </a:p>
        </p:txBody>
      </p:sp>
      <p:sp>
        <p:nvSpPr>
          <p:cNvPr name="TextBox 9" id="9"/>
          <p:cNvSpPr txBox="true"/>
          <p:nvPr/>
        </p:nvSpPr>
        <p:spPr>
          <a:xfrm rot="-84375">
            <a:off x="7199192" y="5862944"/>
            <a:ext cx="671520" cy="389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32"/>
              </a:lnSpc>
            </a:pPr>
            <a:r>
              <a:rPr lang="en-US" sz="2487" b="true">
                <a:solidFill>
                  <a:srgbClr val="D86228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HIGH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7831464" y="5990729"/>
            <a:ext cx="1104718" cy="655919"/>
          </a:xfrm>
          <a:custGeom>
            <a:avLst/>
            <a:gdLst/>
            <a:ahLst/>
            <a:cxnLst/>
            <a:rect r="r" b="b" t="t" l="l"/>
            <a:pathLst>
              <a:path h="655919" w="1104718">
                <a:moveTo>
                  <a:pt x="0" y="0"/>
                </a:moveTo>
                <a:lnTo>
                  <a:pt x="1104718" y="0"/>
                </a:lnTo>
                <a:lnTo>
                  <a:pt x="1104718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-84375">
            <a:off x="3603037" y="7128055"/>
            <a:ext cx="1313604" cy="389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32"/>
              </a:lnSpc>
            </a:pPr>
            <a:r>
              <a:rPr lang="en-US" sz="2487" b="true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PHISHING</a:t>
            </a:r>
          </a:p>
        </p:txBody>
      </p:sp>
      <p:sp>
        <p:nvSpPr>
          <p:cNvPr name="TextBox 12" id="12"/>
          <p:cNvSpPr txBox="true"/>
          <p:nvPr/>
        </p:nvSpPr>
        <p:spPr>
          <a:xfrm rot="-84375">
            <a:off x="7248479" y="6932264"/>
            <a:ext cx="1100625" cy="389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32"/>
              </a:lnSpc>
            </a:pPr>
            <a:r>
              <a:rPr lang="en-US" sz="2487" b="true">
                <a:solidFill>
                  <a:srgbClr val="D8C12B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MEDIUM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8050220" y="6854356"/>
            <a:ext cx="885962" cy="863627"/>
          </a:xfrm>
          <a:custGeom>
            <a:avLst/>
            <a:gdLst/>
            <a:ahLst/>
            <a:cxnLst/>
            <a:rect r="r" b="b" t="t" l="l"/>
            <a:pathLst>
              <a:path h="863627" w="885962">
                <a:moveTo>
                  <a:pt x="0" y="0"/>
                </a:moveTo>
                <a:lnTo>
                  <a:pt x="885962" y="0"/>
                </a:lnTo>
                <a:lnTo>
                  <a:pt x="885962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9144000" y="2142670"/>
            <a:ext cx="1968804" cy="5148966"/>
          </a:xfrm>
          <a:custGeom>
            <a:avLst/>
            <a:gdLst/>
            <a:ahLst/>
            <a:cxnLst/>
            <a:rect r="r" b="b" t="t" l="l"/>
            <a:pathLst>
              <a:path h="5148966" w="1968804">
                <a:moveTo>
                  <a:pt x="0" y="0"/>
                </a:moveTo>
                <a:lnTo>
                  <a:pt x="1968804" y="0"/>
                </a:lnTo>
                <a:lnTo>
                  <a:pt x="1968804" y="5148965"/>
                </a:lnTo>
                <a:lnTo>
                  <a:pt x="0" y="514896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0883110" y="1279043"/>
            <a:ext cx="6978316" cy="2153601"/>
          </a:xfrm>
          <a:custGeom>
            <a:avLst/>
            <a:gdLst/>
            <a:ahLst/>
            <a:cxnLst/>
            <a:rect r="r" b="b" t="t" l="l"/>
            <a:pathLst>
              <a:path h="2153601" w="6978316">
                <a:moveTo>
                  <a:pt x="0" y="0"/>
                </a:moveTo>
                <a:lnTo>
                  <a:pt x="6978316" y="0"/>
                </a:lnTo>
                <a:lnTo>
                  <a:pt x="6978316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1484429" y="1734729"/>
            <a:ext cx="807854" cy="1106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26"/>
              </a:lnSpc>
            </a:pPr>
            <a:r>
              <a:rPr lang="en-US" sz="7354" spc="71">
                <a:solidFill>
                  <a:srgbClr val="079CF6"/>
                </a:solidFill>
                <a:latin typeface="Anton"/>
                <a:ea typeface="Anton"/>
                <a:cs typeface="Anton"/>
                <a:sym typeface="Anton"/>
              </a:rPr>
              <a:t>01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048887" y="1696318"/>
            <a:ext cx="2417513" cy="5317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95"/>
              </a:lnSpc>
            </a:pPr>
            <a:r>
              <a:rPr lang="en-US" sz="3304" b="true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WHAT FIRST?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046302" y="2268757"/>
            <a:ext cx="2676059" cy="758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55"/>
              </a:lnSpc>
            </a:pPr>
            <a:r>
              <a:rPr lang="en-US" sz="2351">
                <a:solidFill>
                  <a:srgbClr val="FFFFFF">
                    <a:alpha val="84706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Which incident to</a:t>
            </a:r>
          </a:p>
          <a:p>
            <a:pPr algn="l">
              <a:lnSpc>
                <a:spcPts val="3055"/>
              </a:lnSpc>
            </a:pPr>
            <a:r>
              <a:rPr lang="en-US" sz="2351">
                <a:solidFill>
                  <a:srgbClr val="FFFFFF">
                    <a:alpha val="84706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handle immediately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10883110" y="3640352"/>
            <a:ext cx="6978316" cy="2153601"/>
          </a:xfrm>
          <a:custGeom>
            <a:avLst/>
            <a:gdLst/>
            <a:ahLst/>
            <a:cxnLst/>
            <a:rect r="r" b="b" t="t" l="l"/>
            <a:pathLst>
              <a:path h="2153601" w="6978316">
                <a:moveTo>
                  <a:pt x="0" y="0"/>
                </a:moveTo>
                <a:lnTo>
                  <a:pt x="6978316" y="0"/>
                </a:lnTo>
                <a:lnTo>
                  <a:pt x="6978316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1482870" y="4099281"/>
            <a:ext cx="963775" cy="1106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26"/>
              </a:lnSpc>
            </a:pPr>
            <a:r>
              <a:rPr lang="en-US" sz="7354" spc="71">
                <a:solidFill>
                  <a:srgbClr val="079CF6"/>
                </a:solidFill>
                <a:latin typeface="Anton"/>
                <a:ea typeface="Anton"/>
                <a:cs typeface="Anton"/>
                <a:sym typeface="Anton"/>
              </a:rPr>
              <a:t>02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040432" y="4060870"/>
            <a:ext cx="3263092" cy="5317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95"/>
              </a:lnSpc>
            </a:pPr>
            <a:r>
              <a:rPr lang="en-US" sz="3304" b="true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WHAT IS AT RISK?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044164" y="4633309"/>
            <a:ext cx="2889855" cy="758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55"/>
              </a:lnSpc>
            </a:pPr>
            <a:r>
              <a:rPr lang="en-US" sz="2351">
                <a:solidFill>
                  <a:srgbClr val="FFFFFF">
                    <a:alpha val="84706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Which connected</a:t>
            </a:r>
          </a:p>
          <a:p>
            <a:pPr algn="l">
              <a:lnSpc>
                <a:spcPts val="3055"/>
              </a:lnSpc>
            </a:pPr>
            <a:r>
              <a:rPr lang="en-US" sz="2351">
                <a:solidFill>
                  <a:srgbClr val="FFFFFF">
                    <a:alpha val="84706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systems are affected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10883110" y="5990729"/>
            <a:ext cx="6978316" cy="2153601"/>
          </a:xfrm>
          <a:custGeom>
            <a:avLst/>
            <a:gdLst/>
            <a:ahLst/>
            <a:cxnLst/>
            <a:rect r="r" b="b" t="t" l="l"/>
            <a:pathLst>
              <a:path h="2153601" w="6978316">
                <a:moveTo>
                  <a:pt x="0" y="0"/>
                </a:moveTo>
                <a:lnTo>
                  <a:pt x="6978316" y="0"/>
                </a:lnTo>
                <a:lnTo>
                  <a:pt x="6978316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11482870" y="6509016"/>
            <a:ext cx="963775" cy="1106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26"/>
              </a:lnSpc>
            </a:pPr>
            <a:r>
              <a:rPr lang="en-US" sz="7354" spc="71">
                <a:solidFill>
                  <a:srgbClr val="079CF6"/>
                </a:solidFill>
                <a:latin typeface="Anton"/>
                <a:ea typeface="Anton"/>
                <a:cs typeface="Anton"/>
                <a:sym typeface="Anton"/>
              </a:rPr>
              <a:t>03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3039040" y="6470605"/>
            <a:ext cx="3402254" cy="5317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95"/>
              </a:lnSpc>
            </a:pPr>
            <a:r>
              <a:rPr lang="en-US" sz="3304" b="true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HOW TO CONTAIN?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3047904" y="7043044"/>
            <a:ext cx="2515863" cy="758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55"/>
              </a:lnSpc>
            </a:pPr>
            <a:r>
              <a:rPr lang="en-US" sz="2351">
                <a:solidFill>
                  <a:srgbClr val="FFFFFF">
                    <a:alpha val="84706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Most efficient</a:t>
            </a:r>
          </a:p>
          <a:p>
            <a:pPr algn="l">
              <a:lnSpc>
                <a:spcPts val="3055"/>
              </a:lnSpc>
            </a:pPr>
            <a:r>
              <a:rPr lang="en-US" sz="2351">
                <a:solidFill>
                  <a:srgbClr val="FFFFFF">
                    <a:alpha val="84706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containment route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3921018" y="8699877"/>
            <a:ext cx="10109317" cy="11696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72"/>
              </a:lnSpc>
            </a:pPr>
            <a:r>
              <a:rPr lang="en-US" sz="367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The challenge is not just detecting threats —</a:t>
            </a:r>
          </a:p>
          <a:p>
            <a:pPr algn="ctr">
              <a:lnSpc>
                <a:spcPts val="4772"/>
              </a:lnSpc>
            </a:pPr>
            <a:r>
              <a:rPr lang="en-US" sz="367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it is making </a:t>
            </a:r>
            <a:r>
              <a:rPr lang="en-US" sz="3671" b="true">
                <a:solidFill>
                  <a:srgbClr val="079CF6"/>
                </a:solidFill>
                <a:latin typeface="Roboto Bold"/>
                <a:ea typeface="Roboto Bold"/>
                <a:cs typeface="Roboto Bold"/>
                <a:sym typeface="Roboto Bold"/>
              </a:rPr>
              <a:t>the right response decision</a:t>
            </a:r>
            <a:r>
              <a:rPr lang="en-US" sz="367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quickly.</a:t>
            </a:r>
          </a:p>
        </p:txBody>
      </p:sp>
      <p:sp>
        <p:nvSpPr>
          <p:cNvPr name="TextBox 28" id="28"/>
          <p:cNvSpPr txBox="true"/>
          <p:nvPr/>
        </p:nvSpPr>
        <p:spPr>
          <a:xfrm rot="205664">
            <a:off x="1461060" y="3865376"/>
            <a:ext cx="4026388" cy="3334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1"/>
              </a:lnSpc>
            </a:pPr>
            <a:r>
              <a:rPr lang="en-US" sz="2047" b="true">
                <a:solidFill>
                  <a:srgbClr val="51A9D8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SECURITY OPERATIONS DASHBOARD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52554" y="1166693"/>
            <a:ext cx="3680575" cy="1312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968"/>
              </a:lnSpc>
            </a:pPr>
            <a:r>
              <a:rPr lang="en-US" sz="9968" spc="-199">
                <a:solidFill>
                  <a:srgbClr val="FFFFFF">
                    <a:alpha val="89804"/>
                  </a:srgbClr>
                </a:solidFill>
                <a:latin typeface="Anton"/>
                <a:ea typeface="Anton"/>
                <a:cs typeface="Anton"/>
                <a:sym typeface="Anton"/>
              </a:rPr>
              <a:t>TRACE-</a:t>
            </a:r>
            <a:r>
              <a:rPr lang="en-US" sz="9968" spc="-199">
                <a:solidFill>
                  <a:srgbClr val="0686D1">
                    <a:alpha val="89804"/>
                  </a:srgbClr>
                </a:solidFill>
                <a:latin typeface="Anton"/>
                <a:ea typeface="Anton"/>
                <a:cs typeface="Anton"/>
                <a:sym typeface="Anton"/>
              </a:rPr>
              <a:t>X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47349" y="2814178"/>
            <a:ext cx="4201040" cy="31158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57"/>
              </a:lnSpc>
            </a:pPr>
            <a:r>
              <a:rPr lang="en-US" sz="3537">
                <a:solidFill>
                  <a:srgbClr val="FFFFFF">
                    <a:alpha val="89804"/>
                  </a:srgbClr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TRACE-X transforms cyber incidents into explainable, </a:t>
            </a:r>
            <a:r>
              <a:rPr lang="en-US" sz="3537" b="true">
                <a:solidFill>
                  <a:srgbClr val="0686D1">
                    <a:alpha val="89804"/>
                  </a:srgbClr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algorithmm-driven response plans.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7175196" y="634055"/>
            <a:ext cx="8728364" cy="1727254"/>
          </a:xfrm>
          <a:custGeom>
            <a:avLst/>
            <a:gdLst/>
            <a:ahLst/>
            <a:cxnLst/>
            <a:rect r="r" b="b" t="t" l="l"/>
            <a:pathLst>
              <a:path h="1727254" w="8728364">
                <a:moveTo>
                  <a:pt x="0" y="0"/>
                </a:moveTo>
                <a:lnTo>
                  <a:pt x="8728364" y="0"/>
                </a:lnTo>
                <a:lnTo>
                  <a:pt x="8728364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612708" y="852695"/>
            <a:ext cx="1323474" cy="1300906"/>
          </a:xfrm>
          <a:custGeom>
            <a:avLst/>
            <a:gdLst/>
            <a:ahLst/>
            <a:cxnLst/>
            <a:rect r="r" b="b" t="t" l="l"/>
            <a:pathLst>
              <a:path h="1300906" w="1323474">
                <a:moveTo>
                  <a:pt x="0" y="0"/>
                </a:moveTo>
                <a:lnTo>
                  <a:pt x="1323474" y="0"/>
                </a:lnTo>
                <a:lnTo>
                  <a:pt x="1323474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9764831" y="1091158"/>
            <a:ext cx="3996632" cy="668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66"/>
              </a:lnSpc>
            </a:pPr>
            <a:r>
              <a:rPr lang="en-US" sz="3893" b="true">
                <a:solidFill>
                  <a:srgbClr val="FFFFFF">
                    <a:alpha val="89804"/>
                  </a:srgbClr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CYBER INCIDENT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1320622" y="1924030"/>
            <a:ext cx="656268" cy="863627"/>
          </a:xfrm>
          <a:custGeom>
            <a:avLst/>
            <a:gdLst/>
            <a:ahLst/>
            <a:cxnLst/>
            <a:rect r="r" b="b" t="t" l="l"/>
            <a:pathLst>
              <a:path h="863627" w="656268">
                <a:moveTo>
                  <a:pt x="0" y="0"/>
                </a:moveTo>
                <a:lnTo>
                  <a:pt x="656268" y="0"/>
                </a:lnTo>
                <a:lnTo>
                  <a:pt x="656268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7175196" y="2350377"/>
            <a:ext cx="8728364" cy="1945894"/>
          </a:xfrm>
          <a:custGeom>
            <a:avLst/>
            <a:gdLst/>
            <a:ahLst/>
            <a:cxnLst/>
            <a:rect r="r" b="b" t="t" l="l"/>
            <a:pathLst>
              <a:path h="1945894" w="8728364">
                <a:moveTo>
                  <a:pt x="0" y="0"/>
                </a:moveTo>
                <a:lnTo>
                  <a:pt x="8728364" y="0"/>
                </a:lnTo>
                <a:lnTo>
                  <a:pt x="8728364" y="1945894"/>
                </a:lnTo>
                <a:lnTo>
                  <a:pt x="0" y="194589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7612708" y="2776725"/>
            <a:ext cx="1323474" cy="1082267"/>
          </a:xfrm>
          <a:custGeom>
            <a:avLst/>
            <a:gdLst/>
            <a:ahLst/>
            <a:cxnLst/>
            <a:rect r="r" b="b" t="t" l="l"/>
            <a:pathLst>
              <a:path h="1082267" w="1323474">
                <a:moveTo>
                  <a:pt x="0" y="0"/>
                </a:moveTo>
                <a:lnTo>
                  <a:pt x="1323474" y="0"/>
                </a:lnTo>
                <a:lnTo>
                  <a:pt x="1323474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9771937" y="2823582"/>
            <a:ext cx="3285988" cy="5626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4"/>
              </a:lnSpc>
            </a:pPr>
            <a:r>
              <a:rPr lang="en-US" sz="3234" b="true">
                <a:solidFill>
                  <a:srgbClr val="FFFFFF">
                    <a:alpha val="89804"/>
                  </a:srgbClr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PRIORITY QUEUE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762388" y="3384546"/>
            <a:ext cx="4240860" cy="439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12"/>
              </a:lnSpc>
            </a:pPr>
            <a:r>
              <a:rPr lang="en-US" sz="2526">
                <a:solidFill>
                  <a:srgbClr val="FFFFFF">
                    <a:alpha val="89804"/>
                  </a:srgbClr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What should we handle first?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1320622" y="3848060"/>
            <a:ext cx="656268" cy="874559"/>
          </a:xfrm>
          <a:custGeom>
            <a:avLst/>
            <a:gdLst/>
            <a:ahLst/>
            <a:cxnLst/>
            <a:rect r="r" b="b" t="t" l="l"/>
            <a:pathLst>
              <a:path h="874559" w="656268">
                <a:moveTo>
                  <a:pt x="0" y="0"/>
                </a:moveTo>
                <a:lnTo>
                  <a:pt x="656268" y="0"/>
                </a:lnTo>
                <a:lnTo>
                  <a:pt x="656268" y="874558"/>
                </a:lnTo>
                <a:lnTo>
                  <a:pt x="0" y="87455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7175196" y="4285339"/>
            <a:ext cx="8728364" cy="1716322"/>
          </a:xfrm>
          <a:custGeom>
            <a:avLst/>
            <a:gdLst/>
            <a:ahLst/>
            <a:cxnLst/>
            <a:rect r="r" b="b" t="t" l="l"/>
            <a:pathLst>
              <a:path h="1716322" w="8728364">
                <a:moveTo>
                  <a:pt x="0" y="0"/>
                </a:moveTo>
                <a:lnTo>
                  <a:pt x="8728364" y="0"/>
                </a:lnTo>
                <a:lnTo>
                  <a:pt x="8728364" y="1716322"/>
                </a:lnTo>
                <a:lnTo>
                  <a:pt x="0" y="171632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7831464" y="4493047"/>
            <a:ext cx="1104718" cy="1300906"/>
          </a:xfrm>
          <a:custGeom>
            <a:avLst/>
            <a:gdLst/>
            <a:ahLst/>
            <a:cxnLst/>
            <a:rect r="r" b="b" t="t" l="l"/>
            <a:pathLst>
              <a:path h="1300906" w="1104718">
                <a:moveTo>
                  <a:pt x="0" y="0"/>
                </a:moveTo>
                <a:lnTo>
                  <a:pt x="1104718" y="0"/>
                </a:lnTo>
                <a:lnTo>
                  <a:pt x="1104718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9757454" y="4706188"/>
            <a:ext cx="4734288" cy="5626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4"/>
              </a:lnSpc>
            </a:pPr>
            <a:r>
              <a:rPr lang="en-US" sz="3234" b="true">
                <a:solidFill>
                  <a:srgbClr val="FFFFFF">
                    <a:alpha val="89804"/>
                  </a:srgbClr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BFS GRAPH TRAVERSAL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747615" y="5267151"/>
            <a:ext cx="5718165" cy="439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12"/>
              </a:lnSpc>
            </a:pPr>
            <a:r>
              <a:rPr lang="en-US" sz="2526">
                <a:solidFill>
                  <a:srgbClr val="FFFFFF">
                    <a:alpha val="89804"/>
                  </a:srgbClr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What systems are potentially affected?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11320622" y="5783021"/>
            <a:ext cx="656268" cy="863627"/>
          </a:xfrm>
          <a:custGeom>
            <a:avLst/>
            <a:gdLst/>
            <a:ahLst/>
            <a:cxnLst/>
            <a:rect r="r" b="b" t="t" l="l"/>
            <a:pathLst>
              <a:path h="863627" w="656268">
                <a:moveTo>
                  <a:pt x="0" y="0"/>
                </a:moveTo>
                <a:lnTo>
                  <a:pt x="656268" y="0"/>
                </a:lnTo>
                <a:lnTo>
                  <a:pt x="656268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7175196" y="6209369"/>
            <a:ext cx="8728364" cy="1727254"/>
          </a:xfrm>
          <a:custGeom>
            <a:avLst/>
            <a:gdLst/>
            <a:ahLst/>
            <a:cxnLst/>
            <a:rect r="r" b="b" t="t" l="l"/>
            <a:pathLst>
              <a:path h="1727254" w="8728364">
                <a:moveTo>
                  <a:pt x="0" y="0"/>
                </a:moveTo>
                <a:lnTo>
                  <a:pt x="8728364" y="0"/>
                </a:lnTo>
                <a:lnTo>
                  <a:pt x="8728364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7612708" y="6635716"/>
            <a:ext cx="1531292" cy="1082267"/>
          </a:xfrm>
          <a:custGeom>
            <a:avLst/>
            <a:gdLst/>
            <a:ahLst/>
            <a:cxnLst/>
            <a:rect r="r" b="b" t="t" l="l"/>
            <a:pathLst>
              <a:path h="1082267" w="1531292">
                <a:moveTo>
                  <a:pt x="0" y="0"/>
                </a:moveTo>
                <a:lnTo>
                  <a:pt x="1531292" y="0"/>
                </a:lnTo>
                <a:lnTo>
                  <a:pt x="1531292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9750603" y="6603853"/>
            <a:ext cx="5419416" cy="5626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4"/>
              </a:lnSpc>
            </a:pPr>
            <a:r>
              <a:rPr lang="en-US" sz="3234" b="true">
                <a:solidFill>
                  <a:srgbClr val="FFFFFF">
                    <a:alpha val="89804"/>
                  </a:srgbClr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DIJKSTRA SHORTEST PATH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746033" y="7164817"/>
            <a:ext cx="5876379" cy="439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12"/>
              </a:lnSpc>
            </a:pPr>
            <a:r>
              <a:rPr lang="en-US" sz="2526">
                <a:solidFill>
                  <a:srgbClr val="FFFFFF">
                    <a:alpha val="89804"/>
                  </a:srgbClr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What is the efficient containment route?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11320622" y="7707051"/>
            <a:ext cx="656268" cy="655919"/>
          </a:xfrm>
          <a:custGeom>
            <a:avLst/>
            <a:gdLst/>
            <a:ahLst/>
            <a:cxnLst/>
            <a:rect r="r" b="b" t="t" l="l"/>
            <a:pathLst>
              <a:path h="655919" w="656268">
                <a:moveTo>
                  <a:pt x="0" y="0"/>
                </a:moveTo>
                <a:lnTo>
                  <a:pt x="656268" y="0"/>
                </a:lnTo>
                <a:lnTo>
                  <a:pt x="656268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7175196" y="8133399"/>
            <a:ext cx="8728364" cy="1727254"/>
          </a:xfrm>
          <a:custGeom>
            <a:avLst/>
            <a:gdLst/>
            <a:ahLst/>
            <a:cxnLst/>
            <a:rect r="r" b="b" t="t" l="l"/>
            <a:pathLst>
              <a:path h="1727254" w="8728364">
                <a:moveTo>
                  <a:pt x="0" y="0"/>
                </a:moveTo>
                <a:lnTo>
                  <a:pt x="8728364" y="0"/>
                </a:lnTo>
                <a:lnTo>
                  <a:pt x="8728364" y="1727253"/>
                </a:lnTo>
                <a:lnTo>
                  <a:pt x="0" y="1727253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7831464" y="8352038"/>
            <a:ext cx="1104718" cy="1300906"/>
          </a:xfrm>
          <a:custGeom>
            <a:avLst/>
            <a:gdLst/>
            <a:ahLst/>
            <a:cxnLst/>
            <a:rect r="r" b="b" t="t" l="l"/>
            <a:pathLst>
              <a:path h="1300906" w="1104718">
                <a:moveTo>
                  <a:pt x="0" y="0"/>
                </a:moveTo>
                <a:lnTo>
                  <a:pt x="1104718" y="0"/>
                </a:lnTo>
                <a:lnTo>
                  <a:pt x="1104718" y="1300907"/>
                </a:lnTo>
                <a:lnTo>
                  <a:pt x="0" y="1300907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9764791" y="8621578"/>
            <a:ext cx="4000614" cy="668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66"/>
              </a:lnSpc>
            </a:pPr>
            <a:r>
              <a:rPr lang="en-US" sz="3893" b="true">
                <a:solidFill>
                  <a:srgbClr val="FFFFFF">
                    <a:alpha val="89804"/>
                  </a:srgbClr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RESPONSE PLAN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66067" y="467850"/>
            <a:ext cx="16811713" cy="1000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58"/>
              </a:lnSpc>
            </a:pPr>
            <a:r>
              <a:rPr lang="en-US" sz="6464">
                <a:solidFill>
                  <a:srgbClr val="FFFFFF">
                    <a:alpha val="89804"/>
                  </a:srgbClr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THREE ALGORITHMS. </a:t>
            </a:r>
            <a:r>
              <a:rPr lang="en-US" sz="6464">
                <a:solidFill>
                  <a:srgbClr val="00A3F4">
                    <a:alpha val="89804"/>
                  </a:srgbClr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THREE CRITICAL DECISIONS. 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5873598" y="1705390"/>
            <a:ext cx="6322048" cy="5804885"/>
          </a:xfrm>
          <a:custGeom>
            <a:avLst/>
            <a:gdLst/>
            <a:ahLst/>
            <a:cxnLst/>
            <a:rect r="r" b="b" t="t" l="l"/>
            <a:pathLst>
              <a:path h="5804885" w="6322048">
                <a:moveTo>
                  <a:pt x="0" y="0"/>
                </a:moveTo>
                <a:lnTo>
                  <a:pt x="6322048" y="0"/>
                </a:lnTo>
                <a:lnTo>
                  <a:pt x="6322048" y="5804885"/>
                </a:lnTo>
                <a:lnTo>
                  <a:pt x="0" y="58048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45330" y="2776725"/>
            <a:ext cx="4364182" cy="4296271"/>
          </a:xfrm>
          <a:custGeom>
            <a:avLst/>
            <a:gdLst/>
            <a:ahLst/>
            <a:cxnLst/>
            <a:rect r="r" b="b" t="t" l="l"/>
            <a:pathLst>
              <a:path h="4296271" w="4364182">
                <a:moveTo>
                  <a:pt x="0" y="0"/>
                </a:moveTo>
                <a:lnTo>
                  <a:pt x="4364182" y="0"/>
                </a:lnTo>
                <a:lnTo>
                  <a:pt x="4364182" y="4296271"/>
                </a:lnTo>
                <a:lnTo>
                  <a:pt x="0" y="429627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76031" y="3308813"/>
            <a:ext cx="638823" cy="7769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03"/>
              </a:lnSpc>
            </a:pPr>
            <a:r>
              <a:rPr lang="en-US" sz="5085">
                <a:solidFill>
                  <a:srgbClr val="00A3F4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01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035972" y="3273121"/>
            <a:ext cx="2678574" cy="455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8"/>
              </a:lnSpc>
            </a:pPr>
            <a:r>
              <a:rPr lang="en-US" sz="3023" b="true">
                <a:solidFill>
                  <a:srgbClr val="FFFFFF">
                    <a:alpha val="89804"/>
                  </a:srgbClr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PRIORITY QUEUE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062758" y="3835468"/>
            <a:ext cx="1982391" cy="678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6"/>
              </a:lnSpc>
            </a:pPr>
            <a:r>
              <a:rPr lang="en-US" sz="2321">
                <a:solidFill>
                  <a:srgbClr val="FFFFFF">
                    <a:alpha val="89804"/>
                  </a:srgbClr>
                </a:solidFill>
                <a:latin typeface="Anton"/>
                <a:ea typeface="Anton"/>
                <a:cs typeface="Anton"/>
                <a:sym typeface="Anton"/>
              </a:rPr>
              <a:t>Decides what to handle first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864086" y="4711687"/>
            <a:ext cx="3707914" cy="218640"/>
          </a:xfrm>
          <a:custGeom>
            <a:avLst/>
            <a:gdLst/>
            <a:ahLst/>
            <a:cxnLst/>
            <a:rect r="r" b="b" t="t" l="l"/>
            <a:pathLst>
              <a:path h="218640" w="3707914">
                <a:moveTo>
                  <a:pt x="0" y="0"/>
                </a:moveTo>
                <a:lnTo>
                  <a:pt x="3707914" y="0"/>
                </a:lnTo>
                <a:lnTo>
                  <a:pt x="3707914" y="218639"/>
                </a:lnTo>
                <a:lnTo>
                  <a:pt x="0" y="21863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4779818" y="4493047"/>
            <a:ext cx="1542230" cy="437279"/>
          </a:xfrm>
          <a:custGeom>
            <a:avLst/>
            <a:gdLst/>
            <a:ahLst/>
            <a:cxnLst/>
            <a:rect r="r" b="b" t="t" l="l"/>
            <a:pathLst>
              <a:path h="437279" w="1542230">
                <a:moveTo>
                  <a:pt x="0" y="0"/>
                </a:moveTo>
                <a:lnTo>
                  <a:pt x="1542230" y="0"/>
                </a:lnTo>
                <a:lnTo>
                  <a:pt x="1542230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3059732" y="2776725"/>
            <a:ext cx="4364182" cy="4296271"/>
          </a:xfrm>
          <a:custGeom>
            <a:avLst/>
            <a:gdLst/>
            <a:ahLst/>
            <a:cxnLst/>
            <a:rect r="r" b="b" t="t" l="l"/>
            <a:pathLst>
              <a:path h="4296271" w="4364182">
                <a:moveTo>
                  <a:pt x="0" y="0"/>
                </a:moveTo>
                <a:lnTo>
                  <a:pt x="4364182" y="0"/>
                </a:lnTo>
                <a:lnTo>
                  <a:pt x="4364182" y="4296271"/>
                </a:lnTo>
                <a:lnTo>
                  <a:pt x="0" y="429627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3496626" y="3246350"/>
            <a:ext cx="765040" cy="9018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65"/>
              </a:lnSpc>
            </a:pPr>
            <a:r>
              <a:rPr lang="en-US" sz="5969">
                <a:solidFill>
                  <a:srgbClr val="00A3F4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02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566994" y="3254671"/>
            <a:ext cx="625650" cy="4830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26"/>
              </a:lnSpc>
            </a:pPr>
            <a:r>
              <a:rPr lang="en-US" sz="3104" b="true">
                <a:solidFill>
                  <a:srgbClr val="FFFFFF">
                    <a:alpha val="89804"/>
                  </a:srgbClr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BFS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4573250" y="3835468"/>
            <a:ext cx="1982391" cy="678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6"/>
              </a:lnSpc>
            </a:pPr>
            <a:r>
              <a:rPr lang="en-US" sz="2321">
                <a:solidFill>
                  <a:srgbClr val="FFFFFF">
                    <a:alpha val="89804"/>
                  </a:srgbClr>
                </a:solidFill>
                <a:latin typeface="Anton"/>
                <a:ea typeface="Anton"/>
                <a:cs typeface="Anton"/>
                <a:sym typeface="Anton"/>
              </a:rPr>
              <a:t>Determines what is at risk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13497244" y="4711687"/>
            <a:ext cx="3489158" cy="218640"/>
          </a:xfrm>
          <a:custGeom>
            <a:avLst/>
            <a:gdLst/>
            <a:ahLst/>
            <a:cxnLst/>
            <a:rect r="r" b="b" t="t" l="l"/>
            <a:pathLst>
              <a:path h="218640" w="3489158">
                <a:moveTo>
                  <a:pt x="0" y="0"/>
                </a:moveTo>
                <a:lnTo>
                  <a:pt x="3489158" y="0"/>
                </a:lnTo>
                <a:lnTo>
                  <a:pt x="3489158" y="218639"/>
                </a:lnTo>
                <a:lnTo>
                  <a:pt x="0" y="21863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4573250" y="5013667"/>
            <a:ext cx="2277070" cy="7949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82"/>
              </a:lnSpc>
            </a:pPr>
            <a:r>
              <a:rPr lang="en-US" sz="2188">
                <a:solidFill>
                  <a:srgbClr val="FFFFFF">
                    <a:alpha val="89804"/>
                  </a:srgbClr>
                </a:solidFill>
                <a:latin typeface="Anton"/>
                <a:ea typeface="Anton"/>
                <a:cs typeface="Anton"/>
                <a:sym typeface="Anton"/>
              </a:rPr>
              <a:t>Traces reachable connected systems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11965952" y="4493047"/>
            <a:ext cx="1323474" cy="437279"/>
          </a:xfrm>
          <a:custGeom>
            <a:avLst/>
            <a:gdLst/>
            <a:ahLst/>
            <a:cxnLst/>
            <a:rect r="r" b="b" t="t" l="l"/>
            <a:pathLst>
              <a:path h="437279" w="1323474">
                <a:moveTo>
                  <a:pt x="0" y="0"/>
                </a:moveTo>
                <a:lnTo>
                  <a:pt x="1323474" y="0"/>
                </a:lnTo>
                <a:lnTo>
                  <a:pt x="1323474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5873598" y="7707051"/>
            <a:ext cx="6540804" cy="2153601"/>
          </a:xfrm>
          <a:custGeom>
            <a:avLst/>
            <a:gdLst/>
            <a:ahLst/>
            <a:cxnLst/>
            <a:rect r="r" b="b" t="t" l="l"/>
            <a:pathLst>
              <a:path h="2153601" w="6540804">
                <a:moveTo>
                  <a:pt x="0" y="0"/>
                </a:moveTo>
                <a:lnTo>
                  <a:pt x="6540804" y="0"/>
                </a:lnTo>
                <a:lnTo>
                  <a:pt x="6540804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6343946" y="8216427"/>
            <a:ext cx="765040" cy="9018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65"/>
              </a:lnSpc>
            </a:pPr>
            <a:r>
              <a:rPr lang="en-US" sz="5969">
                <a:solidFill>
                  <a:srgbClr val="00A3F4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03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351256" y="8243197"/>
            <a:ext cx="1573590" cy="4556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1"/>
              </a:lnSpc>
            </a:pPr>
            <a:r>
              <a:rPr lang="en-US" sz="2992" b="true">
                <a:solidFill>
                  <a:srgbClr val="FFFFFF">
                    <a:alpha val="89804"/>
                  </a:srgbClr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DIJKSTRA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366992" y="8775423"/>
            <a:ext cx="1982391" cy="678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6"/>
              </a:lnSpc>
            </a:pPr>
            <a:r>
              <a:rPr lang="en-US" sz="2321">
                <a:solidFill>
                  <a:srgbClr val="FFFFFF">
                    <a:alpha val="89804"/>
                  </a:srgbClr>
                </a:solidFill>
                <a:latin typeface="Anton"/>
                <a:ea typeface="Anton"/>
                <a:cs typeface="Anton"/>
                <a:sym typeface="Anton"/>
              </a:rPr>
              <a:t>Determines how to contain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9351818" y="8133399"/>
            <a:ext cx="229694" cy="1300906"/>
          </a:xfrm>
          <a:custGeom>
            <a:avLst/>
            <a:gdLst/>
            <a:ahLst/>
            <a:cxnLst/>
            <a:rect r="r" b="b" t="t" l="l"/>
            <a:pathLst>
              <a:path h="1300906" w="229694">
                <a:moveTo>
                  <a:pt x="0" y="0"/>
                </a:moveTo>
                <a:lnTo>
                  <a:pt x="229694" y="0"/>
                </a:lnTo>
                <a:lnTo>
                  <a:pt x="229694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9831586" y="8646930"/>
            <a:ext cx="2277070" cy="7053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4"/>
              </a:lnSpc>
            </a:pPr>
            <a:r>
              <a:rPr lang="en-US" sz="2188">
                <a:solidFill>
                  <a:srgbClr val="FFFFFF">
                    <a:alpha val="89804"/>
                  </a:srgbClr>
                </a:solidFill>
                <a:latin typeface="Anton"/>
                <a:ea typeface="Anton"/>
                <a:cs typeface="Anton"/>
                <a:sym typeface="Anton"/>
              </a:rPr>
              <a:t>Calculates minimum cost/distance route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8925244" y="7280704"/>
            <a:ext cx="437512" cy="655919"/>
          </a:xfrm>
          <a:custGeom>
            <a:avLst/>
            <a:gdLst/>
            <a:ahLst/>
            <a:cxnLst/>
            <a:rect r="r" b="b" t="t" l="l"/>
            <a:pathLst>
              <a:path h="655919" w="437512">
                <a:moveTo>
                  <a:pt x="0" y="0"/>
                </a:moveTo>
                <a:lnTo>
                  <a:pt x="437512" y="0"/>
                </a:lnTo>
                <a:lnTo>
                  <a:pt x="437512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2062758" y="5930835"/>
            <a:ext cx="1982391" cy="3486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6"/>
              </a:lnSpc>
            </a:pPr>
            <a:r>
              <a:rPr lang="en-US" sz="2321">
                <a:solidFill>
                  <a:srgbClr val="FFFFFF">
                    <a:alpha val="89804"/>
                  </a:srgbClr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Critical Assets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062758" y="6382660"/>
            <a:ext cx="1982391" cy="3486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6"/>
              </a:lnSpc>
            </a:pPr>
            <a:r>
              <a:rPr lang="en-US" sz="2321">
                <a:solidFill>
                  <a:srgbClr val="FFFFFF">
                    <a:alpha val="89804"/>
                  </a:srgbClr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Priority Score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4573250" y="6382660"/>
            <a:ext cx="1982391" cy="3486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6"/>
              </a:lnSpc>
            </a:pPr>
            <a:r>
              <a:rPr lang="en-US" sz="2321">
                <a:solidFill>
                  <a:srgbClr val="FFFFFF">
                    <a:alpha val="89804"/>
                  </a:srgbClr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blast radius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4573250" y="5930835"/>
            <a:ext cx="1982391" cy="3486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6"/>
              </a:lnSpc>
            </a:pPr>
            <a:r>
              <a:rPr lang="en-US" sz="2321">
                <a:solidFill>
                  <a:srgbClr val="FFFFFF">
                    <a:alpha val="89804"/>
                  </a:srgbClr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Estimates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2062758" y="5027184"/>
            <a:ext cx="1982391" cy="3486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6"/>
              </a:lnSpc>
            </a:pPr>
            <a:r>
              <a:rPr lang="en-US" sz="2321">
                <a:solidFill>
                  <a:srgbClr val="FFFFFF">
                    <a:alpha val="89804"/>
                  </a:srgbClr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Severity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2062758" y="5463948"/>
            <a:ext cx="1982391" cy="3486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6"/>
              </a:lnSpc>
            </a:pPr>
            <a:r>
              <a:rPr lang="en-US" sz="2321">
                <a:solidFill>
                  <a:srgbClr val="FFFFFF">
                    <a:alpha val="89804"/>
                  </a:srgbClr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Impact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28132" y="872856"/>
            <a:ext cx="2728193" cy="11006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33"/>
              </a:lnSpc>
            </a:pPr>
            <a:r>
              <a:rPr lang="en-US" sz="6523">
                <a:solidFill>
                  <a:srgbClr val="FFFFFF">
                    <a:alpha val="89804"/>
                  </a:srgbClr>
                </a:solidFill>
                <a:latin typeface="Anton"/>
                <a:ea typeface="Anton"/>
                <a:cs typeface="Anton"/>
                <a:sym typeface="Anton"/>
              </a:rPr>
              <a:t>INCIDENT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02661" y="1881932"/>
            <a:ext cx="5275351" cy="11006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33"/>
              </a:lnSpc>
            </a:pPr>
            <a:r>
              <a:rPr lang="en-US" sz="6523">
                <a:solidFill>
                  <a:srgbClr val="0695F7"/>
                </a:solidFill>
                <a:latin typeface="Anton"/>
                <a:ea typeface="Anton"/>
                <a:cs typeface="Anton"/>
                <a:sym typeface="Anton"/>
              </a:rPr>
              <a:t>RECONSTRUCTION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03747" y="3223008"/>
            <a:ext cx="5166672" cy="12696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2"/>
              </a:lnSpc>
            </a:pPr>
            <a:r>
              <a:rPr lang="en-US" sz="2487">
                <a:solidFill>
                  <a:srgbClr val="FFFFFF">
                    <a:alpha val="89804"/>
                  </a:srgbClr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Instead of simply displaying a cyber alert, </a:t>
            </a:r>
            <a:r>
              <a:rPr lang="en-US" sz="2487">
                <a:solidFill>
                  <a:srgbClr val="0695F7">
                    <a:alpha val="89804"/>
                  </a:srgbClr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TRACE-X</a:t>
            </a:r>
            <a:r>
              <a:rPr lang="en-US" sz="2487">
                <a:solidFill>
                  <a:srgbClr val="FFFFFF">
                    <a:alpha val="89804"/>
                  </a:srgbClr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reconstructs what happened and explains what should happen next.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6529866" y="1071335"/>
            <a:ext cx="11331560" cy="3858991"/>
          </a:xfrm>
          <a:custGeom>
            <a:avLst/>
            <a:gdLst/>
            <a:ahLst/>
            <a:cxnLst/>
            <a:rect r="r" b="b" t="t" l="l"/>
            <a:pathLst>
              <a:path h="3858991" w="11331560">
                <a:moveTo>
                  <a:pt x="0" y="0"/>
                </a:moveTo>
                <a:lnTo>
                  <a:pt x="11331560" y="0"/>
                </a:lnTo>
                <a:lnTo>
                  <a:pt x="11331560" y="3858991"/>
                </a:lnTo>
                <a:lnTo>
                  <a:pt x="0" y="385899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520354" y="4711687"/>
            <a:ext cx="15684804" cy="1082267"/>
          </a:xfrm>
          <a:custGeom>
            <a:avLst/>
            <a:gdLst/>
            <a:ahLst/>
            <a:cxnLst/>
            <a:rect r="r" b="b" t="t" l="l"/>
            <a:pathLst>
              <a:path h="1082267" w="15684804">
                <a:moveTo>
                  <a:pt x="0" y="0"/>
                </a:moveTo>
                <a:lnTo>
                  <a:pt x="15684804" y="0"/>
                </a:lnTo>
                <a:lnTo>
                  <a:pt x="15684804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07818" y="5564382"/>
            <a:ext cx="2625072" cy="3443576"/>
          </a:xfrm>
          <a:custGeom>
            <a:avLst/>
            <a:gdLst/>
            <a:ahLst/>
            <a:cxnLst/>
            <a:rect r="r" b="b" t="t" l="l"/>
            <a:pathLst>
              <a:path h="3443576" w="2625072">
                <a:moveTo>
                  <a:pt x="0" y="0"/>
                </a:moveTo>
                <a:lnTo>
                  <a:pt x="2625072" y="0"/>
                </a:lnTo>
                <a:lnTo>
                  <a:pt x="2625072" y="3443575"/>
                </a:lnTo>
                <a:lnTo>
                  <a:pt x="0" y="34435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243764" y="5858087"/>
            <a:ext cx="558388" cy="7588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89"/>
              </a:lnSpc>
            </a:pPr>
            <a:r>
              <a:rPr lang="en-US" sz="4420">
                <a:solidFill>
                  <a:srgbClr val="0695F7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01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54171" y="6759633"/>
            <a:ext cx="1555537" cy="3933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3"/>
              </a:lnSpc>
            </a:pPr>
            <a:r>
              <a:rPr lang="en-US" sz="2223">
                <a:solidFill>
                  <a:srgbClr val="FFFFFF">
                    <a:alpha val="89804"/>
                  </a:srgbClr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ENTRY POINT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55756" y="7405316"/>
            <a:ext cx="1397020" cy="10146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0"/>
              </a:lnSpc>
            </a:pPr>
            <a:r>
              <a:rPr lang="en-US" sz="1986">
                <a:solidFill>
                  <a:srgbClr val="FFFFFF">
                    <a:alpha val="89804"/>
                  </a:srgbClr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Identify compromised system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2821952" y="6854356"/>
            <a:ext cx="448450" cy="437279"/>
          </a:xfrm>
          <a:custGeom>
            <a:avLst/>
            <a:gdLst/>
            <a:ahLst/>
            <a:cxnLst/>
            <a:rect r="r" b="b" t="t" l="l"/>
            <a:pathLst>
              <a:path h="437279" w="448450">
                <a:moveTo>
                  <a:pt x="0" y="0"/>
                </a:moveTo>
                <a:lnTo>
                  <a:pt x="448450" y="0"/>
                </a:lnTo>
                <a:lnTo>
                  <a:pt x="448450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3259464" y="5564382"/>
            <a:ext cx="2625072" cy="3443576"/>
          </a:xfrm>
          <a:custGeom>
            <a:avLst/>
            <a:gdLst/>
            <a:ahLst/>
            <a:cxnLst/>
            <a:rect r="r" b="b" t="t" l="l"/>
            <a:pathLst>
              <a:path h="3443576" w="2625072">
                <a:moveTo>
                  <a:pt x="0" y="0"/>
                </a:moveTo>
                <a:lnTo>
                  <a:pt x="2625072" y="0"/>
                </a:lnTo>
                <a:lnTo>
                  <a:pt x="2625072" y="3443575"/>
                </a:lnTo>
                <a:lnTo>
                  <a:pt x="0" y="344357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4188977" y="5786603"/>
            <a:ext cx="668712" cy="8828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96"/>
              </a:lnSpc>
            </a:pPr>
            <a:r>
              <a:rPr lang="en-US" sz="5211">
                <a:solidFill>
                  <a:srgbClr val="0695F7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02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597670" y="6777525"/>
            <a:ext cx="1885386" cy="3671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51"/>
              </a:lnSpc>
            </a:pPr>
            <a:r>
              <a:rPr lang="en-US" sz="2179">
                <a:solidFill>
                  <a:srgbClr val="FFFFFF">
                    <a:alpha val="89804"/>
                  </a:srgbClr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ATTACK SPREAD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5654842" y="6854356"/>
            <a:ext cx="667206" cy="437279"/>
          </a:xfrm>
          <a:custGeom>
            <a:avLst/>
            <a:gdLst/>
            <a:ahLst/>
            <a:cxnLst/>
            <a:rect r="r" b="b" t="t" l="l"/>
            <a:pathLst>
              <a:path h="437279" w="667206">
                <a:moveTo>
                  <a:pt x="0" y="0"/>
                </a:moveTo>
                <a:lnTo>
                  <a:pt x="667206" y="0"/>
                </a:lnTo>
                <a:lnTo>
                  <a:pt x="667206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6311110" y="5564382"/>
            <a:ext cx="2625072" cy="3443576"/>
          </a:xfrm>
          <a:custGeom>
            <a:avLst/>
            <a:gdLst/>
            <a:ahLst/>
            <a:cxnLst/>
            <a:rect r="r" b="b" t="t" l="l"/>
            <a:pathLst>
              <a:path h="3443576" w="2625072">
                <a:moveTo>
                  <a:pt x="0" y="0"/>
                </a:moveTo>
                <a:lnTo>
                  <a:pt x="2625072" y="0"/>
                </a:lnTo>
                <a:lnTo>
                  <a:pt x="2625072" y="3443575"/>
                </a:lnTo>
                <a:lnTo>
                  <a:pt x="0" y="344357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7162563" y="5786603"/>
            <a:ext cx="668712" cy="8828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96"/>
              </a:lnSpc>
            </a:pPr>
            <a:r>
              <a:rPr lang="en-US" sz="5211">
                <a:solidFill>
                  <a:srgbClr val="0695F7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03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625530" y="6776968"/>
            <a:ext cx="1815730" cy="3682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0"/>
              </a:lnSpc>
            </a:pPr>
            <a:r>
              <a:rPr lang="en-US" sz="2135">
                <a:solidFill>
                  <a:srgbClr val="FFFFFF">
                    <a:alpha val="89804"/>
                  </a:srgbClr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CRITICAL ASSET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625393" y="7369797"/>
            <a:ext cx="1829456" cy="1076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6"/>
              </a:lnSpc>
            </a:pPr>
            <a:r>
              <a:rPr lang="en-US" sz="2047">
                <a:solidFill>
                  <a:srgbClr val="FFFFFF">
                    <a:alpha val="89804"/>
                  </a:srgbClr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Identify important systems in blast radius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8706488" y="6854356"/>
            <a:ext cx="656268" cy="437279"/>
          </a:xfrm>
          <a:custGeom>
            <a:avLst/>
            <a:gdLst/>
            <a:ahLst/>
            <a:cxnLst/>
            <a:rect r="r" b="b" t="t" l="l"/>
            <a:pathLst>
              <a:path h="437279" w="656268">
                <a:moveTo>
                  <a:pt x="0" y="0"/>
                </a:moveTo>
                <a:lnTo>
                  <a:pt x="656268" y="0"/>
                </a:lnTo>
                <a:lnTo>
                  <a:pt x="656268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9351818" y="5564382"/>
            <a:ext cx="2625072" cy="3443576"/>
          </a:xfrm>
          <a:custGeom>
            <a:avLst/>
            <a:gdLst/>
            <a:ahLst/>
            <a:cxnLst/>
            <a:rect r="r" b="b" t="t" l="l"/>
            <a:pathLst>
              <a:path h="3443576" w="2625072">
                <a:moveTo>
                  <a:pt x="0" y="0"/>
                </a:moveTo>
                <a:lnTo>
                  <a:pt x="2625072" y="0"/>
                </a:lnTo>
                <a:lnTo>
                  <a:pt x="2625072" y="3443575"/>
                </a:lnTo>
                <a:lnTo>
                  <a:pt x="0" y="344357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10189727" y="5786603"/>
            <a:ext cx="668712" cy="8828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96"/>
              </a:lnSpc>
            </a:pPr>
            <a:r>
              <a:rPr lang="en-US" sz="5211">
                <a:solidFill>
                  <a:srgbClr val="0695F7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04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820803" y="6759633"/>
            <a:ext cx="1078256" cy="3933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3"/>
              </a:lnSpc>
            </a:pPr>
            <a:r>
              <a:rPr lang="en-US" sz="2223">
                <a:solidFill>
                  <a:srgbClr val="FFFFFF">
                    <a:alpha val="89804"/>
                  </a:srgbClr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PRIORITY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652661" y="7369797"/>
            <a:ext cx="1819076" cy="1076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6"/>
              </a:lnSpc>
            </a:pPr>
            <a:r>
              <a:rPr lang="en-US" sz="2047">
                <a:solidFill>
                  <a:srgbClr val="FFFFFF">
                    <a:alpha val="89804"/>
                  </a:srgbClr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Priority Queue determines response urgency</a:t>
            </a:r>
          </a:p>
        </p:txBody>
      </p:sp>
      <p:sp>
        <p:nvSpPr>
          <p:cNvPr name="Freeform 26" id="26"/>
          <p:cNvSpPr/>
          <p:nvPr/>
        </p:nvSpPr>
        <p:spPr>
          <a:xfrm flipH="false" flipV="false" rot="0">
            <a:off x="11747196" y="6854356"/>
            <a:ext cx="667206" cy="437279"/>
          </a:xfrm>
          <a:custGeom>
            <a:avLst/>
            <a:gdLst/>
            <a:ahLst/>
            <a:cxnLst/>
            <a:rect r="r" b="b" t="t" l="l"/>
            <a:pathLst>
              <a:path h="437279" w="667206">
                <a:moveTo>
                  <a:pt x="0" y="0"/>
                </a:moveTo>
                <a:lnTo>
                  <a:pt x="667206" y="0"/>
                </a:lnTo>
                <a:lnTo>
                  <a:pt x="667206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12184708" y="5564382"/>
            <a:ext cx="2843828" cy="3443576"/>
          </a:xfrm>
          <a:custGeom>
            <a:avLst/>
            <a:gdLst/>
            <a:ahLst/>
            <a:cxnLst/>
            <a:rect r="r" b="b" t="t" l="l"/>
            <a:pathLst>
              <a:path h="3443576" w="2843828">
                <a:moveTo>
                  <a:pt x="0" y="0"/>
                </a:moveTo>
                <a:lnTo>
                  <a:pt x="2843828" y="0"/>
                </a:lnTo>
                <a:lnTo>
                  <a:pt x="2843828" y="3443575"/>
                </a:lnTo>
                <a:lnTo>
                  <a:pt x="0" y="344357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13109735" y="5786603"/>
            <a:ext cx="668712" cy="8828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96"/>
              </a:lnSpc>
            </a:pPr>
            <a:r>
              <a:rPr lang="en-US" sz="5211">
                <a:solidFill>
                  <a:srgbClr val="0695F7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05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2573205" y="6759633"/>
            <a:ext cx="1765441" cy="3933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3"/>
              </a:lnSpc>
            </a:pPr>
            <a:r>
              <a:rPr lang="en-US" sz="2223">
                <a:solidFill>
                  <a:srgbClr val="FFFFFF">
                    <a:alpha val="89804"/>
                  </a:srgbClr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CONTAINMENT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572128" y="7405316"/>
            <a:ext cx="1873165" cy="10146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0"/>
              </a:lnSpc>
            </a:pPr>
            <a:r>
              <a:rPr lang="en-US" sz="1986">
                <a:solidFill>
                  <a:srgbClr val="FFFFFF">
                    <a:alpha val="89804"/>
                  </a:srgbClr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Dijkstra finds efficient containment route</a:t>
            </a:r>
          </a:p>
        </p:txBody>
      </p:sp>
      <p:sp>
        <p:nvSpPr>
          <p:cNvPr name="Freeform 31" id="31"/>
          <p:cNvSpPr/>
          <p:nvPr/>
        </p:nvSpPr>
        <p:spPr>
          <a:xfrm flipH="false" flipV="false" rot="0">
            <a:off x="14798842" y="6854356"/>
            <a:ext cx="667206" cy="437279"/>
          </a:xfrm>
          <a:custGeom>
            <a:avLst/>
            <a:gdLst/>
            <a:ahLst/>
            <a:cxnLst/>
            <a:rect r="r" b="b" t="t" l="l"/>
            <a:pathLst>
              <a:path h="437279" w="667206">
                <a:moveTo>
                  <a:pt x="0" y="0"/>
                </a:moveTo>
                <a:lnTo>
                  <a:pt x="667206" y="0"/>
                </a:lnTo>
                <a:lnTo>
                  <a:pt x="667206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15236354" y="5564382"/>
            <a:ext cx="2843828" cy="3443576"/>
          </a:xfrm>
          <a:custGeom>
            <a:avLst/>
            <a:gdLst/>
            <a:ahLst/>
            <a:cxnLst/>
            <a:rect r="r" b="b" t="t" l="l"/>
            <a:pathLst>
              <a:path h="3443576" w="2843828">
                <a:moveTo>
                  <a:pt x="0" y="0"/>
                </a:moveTo>
                <a:lnTo>
                  <a:pt x="2843828" y="0"/>
                </a:lnTo>
                <a:lnTo>
                  <a:pt x="2843828" y="3443575"/>
                </a:lnTo>
                <a:lnTo>
                  <a:pt x="0" y="344357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TextBox 33" id="33"/>
          <p:cNvSpPr txBox="true"/>
          <p:nvPr/>
        </p:nvSpPr>
        <p:spPr>
          <a:xfrm rot="0">
            <a:off x="16163688" y="5786603"/>
            <a:ext cx="668712" cy="8828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96"/>
              </a:lnSpc>
            </a:pPr>
            <a:r>
              <a:rPr lang="en-US" sz="5211">
                <a:solidFill>
                  <a:srgbClr val="0695F7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06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5598948" y="6777525"/>
            <a:ext cx="1907563" cy="3671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51"/>
              </a:lnSpc>
            </a:pPr>
            <a:r>
              <a:rPr lang="en-US" sz="2179">
                <a:solidFill>
                  <a:srgbClr val="FFFFFF">
                    <a:alpha val="89804"/>
                  </a:srgbClr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RESPONSE PLAN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5633069" y="7369797"/>
            <a:ext cx="1174382" cy="1076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6"/>
              </a:lnSpc>
            </a:pPr>
            <a:r>
              <a:rPr lang="en-US" sz="2047">
                <a:solidFill>
                  <a:srgbClr val="FFFFFF">
                    <a:alpha val="89804"/>
                  </a:srgbClr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Generate explainable response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3650552" y="7414205"/>
            <a:ext cx="1954991" cy="675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0"/>
              </a:lnSpc>
            </a:pPr>
            <a:r>
              <a:rPr lang="en-US" sz="1986">
                <a:solidFill>
                  <a:srgbClr val="FFFFFF">
                    <a:alpha val="89804"/>
                  </a:srgbClr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BFS traces connected systems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02300" y="1026870"/>
            <a:ext cx="8705890" cy="1320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487"/>
              </a:lnSpc>
            </a:pPr>
            <a:r>
              <a:rPr lang="en-US" sz="8738" spc="-85">
                <a:solidFill>
                  <a:srgbClr val="F4F4F4"/>
                </a:solidFill>
                <a:latin typeface="Anton"/>
                <a:ea typeface="Anton"/>
                <a:cs typeface="Anton"/>
                <a:sym typeface="Anton"/>
              </a:rPr>
              <a:t>HOW </a:t>
            </a:r>
            <a:r>
              <a:rPr lang="en-US" sz="8738" spc="-85">
                <a:solidFill>
                  <a:srgbClr val="0A96F6"/>
                </a:solidFill>
                <a:latin typeface="Anton"/>
                <a:ea typeface="Anton"/>
                <a:cs typeface="Anton"/>
                <a:sym typeface="Anton"/>
              </a:rPr>
              <a:t>TRACE-X</a:t>
            </a:r>
            <a:r>
              <a:rPr lang="en-US" sz="8738" spc="-85">
                <a:solidFill>
                  <a:srgbClr val="F4F4F4"/>
                </a:solidFill>
                <a:latin typeface="Anton"/>
                <a:ea typeface="Anton"/>
                <a:cs typeface="Anton"/>
                <a:sym typeface="Anton"/>
              </a:rPr>
              <a:t> WORKS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426574" y="3214004"/>
            <a:ext cx="2406316" cy="4296271"/>
          </a:xfrm>
          <a:custGeom>
            <a:avLst/>
            <a:gdLst/>
            <a:ahLst/>
            <a:cxnLst/>
            <a:rect r="r" b="b" t="t" l="l"/>
            <a:pathLst>
              <a:path h="4296271" w="2406316">
                <a:moveTo>
                  <a:pt x="0" y="0"/>
                </a:moveTo>
                <a:lnTo>
                  <a:pt x="2406316" y="0"/>
                </a:lnTo>
                <a:lnTo>
                  <a:pt x="2406316" y="4296271"/>
                </a:lnTo>
                <a:lnTo>
                  <a:pt x="0" y="42962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64086" y="4711687"/>
            <a:ext cx="1531292" cy="1727254"/>
          </a:xfrm>
          <a:custGeom>
            <a:avLst/>
            <a:gdLst/>
            <a:ahLst/>
            <a:cxnLst/>
            <a:rect r="r" b="b" t="t" l="l"/>
            <a:pathLst>
              <a:path h="1727254" w="1531292">
                <a:moveTo>
                  <a:pt x="0" y="0"/>
                </a:moveTo>
                <a:lnTo>
                  <a:pt x="1531292" y="0"/>
                </a:lnTo>
                <a:lnTo>
                  <a:pt x="1531292" y="1727253"/>
                </a:lnTo>
                <a:lnTo>
                  <a:pt x="0" y="172725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384440" y="5138034"/>
            <a:ext cx="885962" cy="655919"/>
          </a:xfrm>
          <a:custGeom>
            <a:avLst/>
            <a:gdLst/>
            <a:ahLst/>
            <a:cxnLst/>
            <a:rect r="r" b="b" t="t" l="l"/>
            <a:pathLst>
              <a:path h="655919" w="885962">
                <a:moveTo>
                  <a:pt x="0" y="0"/>
                </a:moveTo>
                <a:lnTo>
                  <a:pt x="885962" y="0"/>
                </a:lnTo>
                <a:lnTo>
                  <a:pt x="885962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821952" y="3214004"/>
            <a:ext cx="3281340" cy="4296271"/>
          </a:xfrm>
          <a:custGeom>
            <a:avLst/>
            <a:gdLst/>
            <a:ahLst/>
            <a:cxnLst/>
            <a:rect r="r" b="b" t="t" l="l"/>
            <a:pathLst>
              <a:path h="4296271" w="3281340">
                <a:moveTo>
                  <a:pt x="0" y="0"/>
                </a:moveTo>
                <a:lnTo>
                  <a:pt x="3281340" y="0"/>
                </a:lnTo>
                <a:lnTo>
                  <a:pt x="3281340" y="4296271"/>
                </a:lnTo>
                <a:lnTo>
                  <a:pt x="0" y="429627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776800" y="3561370"/>
            <a:ext cx="1609332" cy="8032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84"/>
              </a:lnSpc>
            </a:pPr>
            <a:r>
              <a:rPr lang="en-US" b="true" sz="2896" spc="-57">
                <a:solidFill>
                  <a:srgbClr val="1982D6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REACT</a:t>
            </a:r>
          </a:p>
          <a:p>
            <a:pPr algn="ctr">
              <a:lnSpc>
                <a:spcPts val="3184"/>
              </a:lnSpc>
            </a:pPr>
            <a:r>
              <a:rPr lang="en-US" b="true" sz="2896" spc="-57">
                <a:solidFill>
                  <a:srgbClr val="1982D6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FRONTEND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004000" y="4438943"/>
            <a:ext cx="1154930" cy="6520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84"/>
              </a:lnSpc>
            </a:pPr>
            <a:r>
              <a:rPr lang="en-US" sz="2153">
                <a:solidFill>
                  <a:srgbClr val="FFFFFF">
                    <a:alpha val="80000"/>
                  </a:srgbClr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interactive</a:t>
            </a:r>
          </a:p>
          <a:p>
            <a:pPr algn="ctr">
              <a:lnSpc>
                <a:spcPts val="2584"/>
              </a:lnSpc>
            </a:pPr>
            <a:r>
              <a:rPr lang="en-US" sz="2153">
                <a:solidFill>
                  <a:srgbClr val="FFFFFF">
                    <a:alpha val="80000"/>
                  </a:srgbClr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dashboard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3040708" y="5138034"/>
            <a:ext cx="2843828" cy="2153601"/>
          </a:xfrm>
          <a:custGeom>
            <a:avLst/>
            <a:gdLst/>
            <a:ahLst/>
            <a:cxnLst/>
            <a:rect r="r" b="b" t="t" l="l"/>
            <a:pathLst>
              <a:path h="2153601" w="2843828">
                <a:moveTo>
                  <a:pt x="0" y="0"/>
                </a:moveTo>
                <a:lnTo>
                  <a:pt x="2843828" y="0"/>
                </a:lnTo>
                <a:lnTo>
                  <a:pt x="2843828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6311110" y="3214004"/>
            <a:ext cx="2406316" cy="4296271"/>
          </a:xfrm>
          <a:custGeom>
            <a:avLst/>
            <a:gdLst/>
            <a:ahLst/>
            <a:cxnLst/>
            <a:rect r="r" b="b" t="t" l="l"/>
            <a:pathLst>
              <a:path h="4296271" w="2406316">
                <a:moveTo>
                  <a:pt x="0" y="0"/>
                </a:moveTo>
                <a:lnTo>
                  <a:pt x="2406316" y="0"/>
                </a:lnTo>
                <a:lnTo>
                  <a:pt x="2406316" y="4296271"/>
                </a:lnTo>
                <a:lnTo>
                  <a:pt x="0" y="429627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6748622" y="4711687"/>
            <a:ext cx="1531292" cy="1727254"/>
          </a:xfrm>
          <a:custGeom>
            <a:avLst/>
            <a:gdLst/>
            <a:ahLst/>
            <a:cxnLst/>
            <a:rect r="r" b="b" t="t" l="l"/>
            <a:pathLst>
              <a:path h="1727254" w="1531292">
                <a:moveTo>
                  <a:pt x="0" y="0"/>
                </a:moveTo>
                <a:lnTo>
                  <a:pt x="1531292" y="0"/>
                </a:lnTo>
                <a:lnTo>
                  <a:pt x="1531292" y="1727253"/>
                </a:lnTo>
                <a:lnTo>
                  <a:pt x="0" y="172725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5873598" y="5138034"/>
            <a:ext cx="885962" cy="655919"/>
          </a:xfrm>
          <a:custGeom>
            <a:avLst/>
            <a:gdLst/>
            <a:ahLst/>
            <a:cxnLst/>
            <a:rect r="r" b="b" t="t" l="l"/>
            <a:pathLst>
              <a:path h="655919" w="885962">
                <a:moveTo>
                  <a:pt x="0" y="0"/>
                </a:moveTo>
                <a:lnTo>
                  <a:pt x="885962" y="0"/>
                </a:lnTo>
                <a:lnTo>
                  <a:pt x="885962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8925244" y="3214004"/>
            <a:ext cx="3051646" cy="4296271"/>
          </a:xfrm>
          <a:custGeom>
            <a:avLst/>
            <a:gdLst/>
            <a:ahLst/>
            <a:cxnLst/>
            <a:rect r="r" b="b" t="t" l="l"/>
            <a:pathLst>
              <a:path h="4296271" w="3051646">
                <a:moveTo>
                  <a:pt x="0" y="0"/>
                </a:moveTo>
                <a:lnTo>
                  <a:pt x="3051646" y="0"/>
                </a:lnTo>
                <a:lnTo>
                  <a:pt x="3051646" y="4296271"/>
                </a:lnTo>
                <a:lnTo>
                  <a:pt x="0" y="4296271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9267985" y="3551898"/>
            <a:ext cx="2359498" cy="400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34"/>
              </a:lnSpc>
            </a:pPr>
            <a:r>
              <a:rPr lang="en-US" b="true" sz="2759" spc="-55">
                <a:solidFill>
                  <a:srgbClr val="1982D6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FLASK BACKEND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259331" y="4092544"/>
            <a:ext cx="2376806" cy="652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1"/>
              </a:lnSpc>
            </a:pPr>
            <a:r>
              <a:rPr lang="en-US" sz="2192">
                <a:solidFill>
                  <a:srgbClr val="FFFFFF">
                    <a:alpha val="80000"/>
                  </a:srgbClr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incident processing</a:t>
            </a:r>
          </a:p>
          <a:p>
            <a:pPr algn="ctr">
              <a:lnSpc>
                <a:spcPts val="2631"/>
              </a:lnSpc>
            </a:pPr>
            <a:r>
              <a:rPr lang="en-US" sz="2192">
                <a:solidFill>
                  <a:srgbClr val="FFFFFF">
                    <a:alpha val="80000"/>
                  </a:srgbClr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&amp; graph management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9351818" y="5138034"/>
            <a:ext cx="2406316" cy="1934962"/>
          </a:xfrm>
          <a:custGeom>
            <a:avLst/>
            <a:gdLst/>
            <a:ahLst/>
            <a:cxnLst/>
            <a:rect r="r" b="b" t="t" l="l"/>
            <a:pathLst>
              <a:path h="1934962" w="2406316">
                <a:moveTo>
                  <a:pt x="0" y="0"/>
                </a:moveTo>
                <a:lnTo>
                  <a:pt x="2406316" y="0"/>
                </a:lnTo>
                <a:lnTo>
                  <a:pt x="2406316" y="1934962"/>
                </a:lnTo>
                <a:lnTo>
                  <a:pt x="0" y="1934962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8268976" y="5138034"/>
            <a:ext cx="875024" cy="655919"/>
          </a:xfrm>
          <a:custGeom>
            <a:avLst/>
            <a:gdLst/>
            <a:ahLst/>
            <a:cxnLst/>
            <a:rect r="r" b="b" t="t" l="l"/>
            <a:pathLst>
              <a:path h="655919" w="875024">
                <a:moveTo>
                  <a:pt x="0" y="0"/>
                </a:moveTo>
                <a:lnTo>
                  <a:pt x="875024" y="0"/>
                </a:lnTo>
                <a:lnTo>
                  <a:pt x="875024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2184708" y="3214004"/>
            <a:ext cx="3281340" cy="4296271"/>
          </a:xfrm>
          <a:custGeom>
            <a:avLst/>
            <a:gdLst/>
            <a:ahLst/>
            <a:cxnLst/>
            <a:rect r="r" b="b" t="t" l="l"/>
            <a:pathLst>
              <a:path h="4296271" w="3281340">
                <a:moveTo>
                  <a:pt x="0" y="0"/>
                </a:moveTo>
                <a:lnTo>
                  <a:pt x="3281340" y="0"/>
                </a:lnTo>
                <a:lnTo>
                  <a:pt x="3281340" y="4296271"/>
                </a:lnTo>
                <a:lnTo>
                  <a:pt x="0" y="4296271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2556471" y="3561370"/>
            <a:ext cx="2480864" cy="8032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84"/>
              </a:lnSpc>
            </a:pPr>
            <a:r>
              <a:rPr lang="en-US" b="true" sz="2896" spc="-57">
                <a:solidFill>
                  <a:srgbClr val="1982D6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DAA ALGORITHM</a:t>
            </a:r>
          </a:p>
          <a:p>
            <a:pPr algn="ctr">
              <a:lnSpc>
                <a:spcPts val="3184"/>
              </a:lnSpc>
            </a:pPr>
            <a:r>
              <a:rPr lang="en-US" b="true" sz="2896" spc="-57">
                <a:solidFill>
                  <a:srgbClr val="1982D6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ENGINE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12403464" y="4493047"/>
            <a:ext cx="2843828" cy="1082267"/>
          </a:xfrm>
          <a:custGeom>
            <a:avLst/>
            <a:gdLst/>
            <a:ahLst/>
            <a:cxnLst/>
            <a:rect r="r" b="b" t="t" l="l"/>
            <a:pathLst>
              <a:path h="1082267" w="2843828">
                <a:moveTo>
                  <a:pt x="0" y="0"/>
                </a:moveTo>
                <a:lnTo>
                  <a:pt x="2843828" y="0"/>
                </a:lnTo>
                <a:lnTo>
                  <a:pt x="2843828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12723982" y="4886631"/>
            <a:ext cx="2145843" cy="3522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78"/>
              </a:lnSpc>
            </a:pPr>
            <a:r>
              <a:rPr lang="en-US" b="true" sz="2526" spc="-50">
                <a:solidFill>
                  <a:srgbClr val="D12D2D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PRIORITY QUEUE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12403464" y="5564382"/>
            <a:ext cx="2843828" cy="874559"/>
          </a:xfrm>
          <a:custGeom>
            <a:avLst/>
            <a:gdLst/>
            <a:ahLst/>
            <a:cxnLst/>
            <a:rect r="r" b="b" t="t" l="l"/>
            <a:pathLst>
              <a:path h="874559" w="2843828">
                <a:moveTo>
                  <a:pt x="0" y="0"/>
                </a:moveTo>
                <a:lnTo>
                  <a:pt x="2843828" y="0"/>
                </a:lnTo>
                <a:lnTo>
                  <a:pt x="2843828" y="874558"/>
                </a:lnTo>
                <a:lnTo>
                  <a:pt x="0" y="874558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13550423" y="5790282"/>
            <a:ext cx="492960" cy="3522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78"/>
              </a:lnSpc>
            </a:pPr>
            <a:r>
              <a:rPr lang="en-US" b="true" sz="2526" spc="-50">
                <a:solidFill>
                  <a:srgbClr val="D86520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BFS</a:t>
            </a:r>
          </a:p>
        </p:txBody>
      </p:sp>
      <p:sp>
        <p:nvSpPr>
          <p:cNvPr name="Freeform 25" id="25"/>
          <p:cNvSpPr/>
          <p:nvPr/>
        </p:nvSpPr>
        <p:spPr>
          <a:xfrm flipH="false" flipV="false" rot="0">
            <a:off x="12403464" y="6428009"/>
            <a:ext cx="2843828" cy="863627"/>
          </a:xfrm>
          <a:custGeom>
            <a:avLst/>
            <a:gdLst/>
            <a:ahLst/>
            <a:cxnLst/>
            <a:rect r="r" b="b" t="t" l="l"/>
            <a:pathLst>
              <a:path h="863627" w="2843828">
                <a:moveTo>
                  <a:pt x="0" y="0"/>
                </a:moveTo>
                <a:lnTo>
                  <a:pt x="2843828" y="0"/>
                </a:lnTo>
                <a:lnTo>
                  <a:pt x="2843828" y="863626"/>
                </a:lnTo>
                <a:lnTo>
                  <a:pt x="0" y="863626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13155236" y="6693932"/>
            <a:ext cx="1283335" cy="3522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78"/>
              </a:lnSpc>
            </a:pPr>
            <a:r>
              <a:rPr lang="en-US" b="true" sz="2526" spc="-50">
                <a:solidFill>
                  <a:srgbClr val="E6C22A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DIJKSTRA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11747196" y="5138034"/>
            <a:ext cx="885962" cy="655919"/>
          </a:xfrm>
          <a:custGeom>
            <a:avLst/>
            <a:gdLst/>
            <a:ahLst/>
            <a:cxnLst/>
            <a:rect r="r" b="b" t="t" l="l"/>
            <a:pathLst>
              <a:path h="655919" w="885962">
                <a:moveTo>
                  <a:pt x="0" y="0"/>
                </a:moveTo>
                <a:lnTo>
                  <a:pt x="885962" y="0"/>
                </a:lnTo>
                <a:lnTo>
                  <a:pt x="885962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15455110" y="3214004"/>
            <a:ext cx="2406316" cy="4296271"/>
          </a:xfrm>
          <a:custGeom>
            <a:avLst/>
            <a:gdLst/>
            <a:ahLst/>
            <a:cxnLst/>
            <a:rect r="r" b="b" t="t" l="l"/>
            <a:pathLst>
              <a:path h="4296271" w="2406316">
                <a:moveTo>
                  <a:pt x="0" y="0"/>
                </a:moveTo>
                <a:lnTo>
                  <a:pt x="2406316" y="0"/>
                </a:lnTo>
                <a:lnTo>
                  <a:pt x="2406316" y="4296271"/>
                </a:lnTo>
                <a:lnTo>
                  <a:pt x="0" y="4296271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15976398" y="3561370"/>
            <a:ext cx="1588183" cy="8032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84"/>
              </a:lnSpc>
            </a:pPr>
            <a:r>
              <a:rPr lang="en-US" b="true" sz="2896" spc="-57">
                <a:solidFill>
                  <a:srgbClr val="1982D6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RESPONSE</a:t>
            </a:r>
          </a:p>
          <a:p>
            <a:pPr algn="ctr">
              <a:lnSpc>
                <a:spcPts val="3184"/>
              </a:lnSpc>
            </a:pPr>
            <a:r>
              <a:rPr lang="en-US" b="true" sz="2896" spc="-57">
                <a:solidFill>
                  <a:srgbClr val="1982D6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PLAN</a:t>
            </a:r>
          </a:p>
        </p:txBody>
      </p:sp>
      <p:sp>
        <p:nvSpPr>
          <p:cNvPr name="Freeform 30" id="30"/>
          <p:cNvSpPr/>
          <p:nvPr/>
        </p:nvSpPr>
        <p:spPr>
          <a:xfrm flipH="false" flipV="false" rot="0">
            <a:off x="15892622" y="4711687"/>
            <a:ext cx="1750048" cy="2153601"/>
          </a:xfrm>
          <a:custGeom>
            <a:avLst/>
            <a:gdLst/>
            <a:ahLst/>
            <a:cxnLst/>
            <a:rect r="r" b="b" t="t" l="l"/>
            <a:pathLst>
              <a:path h="2153601" w="1750048">
                <a:moveTo>
                  <a:pt x="0" y="0"/>
                </a:moveTo>
                <a:lnTo>
                  <a:pt x="1750048" y="0"/>
                </a:lnTo>
                <a:lnTo>
                  <a:pt x="1750048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15017598" y="5138034"/>
            <a:ext cx="885962" cy="655919"/>
          </a:xfrm>
          <a:custGeom>
            <a:avLst/>
            <a:gdLst/>
            <a:ahLst/>
            <a:cxnLst/>
            <a:rect r="r" b="b" t="t" l="l"/>
            <a:pathLst>
              <a:path h="655919" w="885962">
                <a:moveTo>
                  <a:pt x="0" y="0"/>
                </a:moveTo>
                <a:lnTo>
                  <a:pt x="885962" y="0"/>
                </a:lnTo>
                <a:lnTo>
                  <a:pt x="885962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4134488" y="8133399"/>
            <a:ext cx="10019024" cy="1300906"/>
          </a:xfrm>
          <a:custGeom>
            <a:avLst/>
            <a:gdLst/>
            <a:ahLst/>
            <a:cxnLst/>
            <a:rect r="r" b="b" t="t" l="l"/>
            <a:pathLst>
              <a:path h="1300906" w="10019024">
                <a:moveTo>
                  <a:pt x="0" y="0"/>
                </a:moveTo>
                <a:lnTo>
                  <a:pt x="10019024" y="0"/>
                </a:lnTo>
                <a:lnTo>
                  <a:pt x="10019024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l="0" t="0" r="0" b="0"/>
            </a:stretch>
          </a:blipFill>
        </p:spPr>
      </p:sp>
      <p:sp>
        <p:nvSpPr>
          <p:cNvPr name="TextBox 33" id="33"/>
          <p:cNvSpPr txBox="true"/>
          <p:nvPr/>
        </p:nvSpPr>
        <p:spPr>
          <a:xfrm rot="0">
            <a:off x="5207260" y="8627401"/>
            <a:ext cx="2023105" cy="400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34"/>
              </a:lnSpc>
            </a:pPr>
            <a:r>
              <a:rPr lang="en-US" b="true" sz="2759" spc="-55">
                <a:solidFill>
                  <a:srgbClr val="FFFFFF">
                    <a:alpha val="80000"/>
                  </a:srgbClr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TECHNOLOGY: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7853567" y="8637262"/>
            <a:ext cx="1177476" cy="3902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76"/>
              </a:lnSpc>
            </a:pPr>
            <a:r>
              <a:rPr lang="en-US" b="true" sz="2707" spc="-54">
                <a:solidFill>
                  <a:srgbClr val="FFFFFF">
                    <a:alpha val="80000"/>
                  </a:srgbClr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PYTHON</a:t>
            </a:r>
          </a:p>
        </p:txBody>
      </p:sp>
      <p:sp>
        <p:nvSpPr>
          <p:cNvPr name="Freeform 35" id="35"/>
          <p:cNvSpPr/>
          <p:nvPr/>
        </p:nvSpPr>
        <p:spPr>
          <a:xfrm flipH="false" flipV="false" rot="0">
            <a:off x="9351818" y="8570678"/>
            <a:ext cx="448450" cy="437279"/>
          </a:xfrm>
          <a:custGeom>
            <a:avLst/>
            <a:gdLst/>
            <a:ahLst/>
            <a:cxnLst/>
            <a:rect r="r" b="b" t="t" l="l"/>
            <a:pathLst>
              <a:path h="437279" w="448450">
                <a:moveTo>
                  <a:pt x="0" y="0"/>
                </a:moveTo>
                <a:lnTo>
                  <a:pt x="448450" y="0"/>
                </a:lnTo>
                <a:lnTo>
                  <a:pt x="448450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 l="0" t="0" r="0" b="0"/>
            </a:stretch>
          </a:blipFill>
        </p:spPr>
      </p:sp>
      <p:sp>
        <p:nvSpPr>
          <p:cNvPr name="TextBox 36" id="36"/>
          <p:cNvSpPr txBox="true"/>
          <p:nvPr/>
        </p:nvSpPr>
        <p:spPr>
          <a:xfrm rot="0">
            <a:off x="10026893" y="8627401"/>
            <a:ext cx="902761" cy="400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34"/>
              </a:lnSpc>
            </a:pPr>
            <a:r>
              <a:rPr lang="en-US" b="true" sz="2759" spc="-55">
                <a:solidFill>
                  <a:srgbClr val="FFFFFF">
                    <a:alpha val="80000"/>
                  </a:srgbClr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FLASK</a:t>
            </a:r>
          </a:p>
        </p:txBody>
      </p:sp>
      <p:sp>
        <p:nvSpPr>
          <p:cNvPr name="Freeform 37" id="37"/>
          <p:cNvSpPr/>
          <p:nvPr/>
        </p:nvSpPr>
        <p:spPr>
          <a:xfrm flipH="false" flipV="false" rot="0">
            <a:off x="11320622" y="8570678"/>
            <a:ext cx="218756" cy="437279"/>
          </a:xfrm>
          <a:custGeom>
            <a:avLst/>
            <a:gdLst/>
            <a:ahLst/>
            <a:cxnLst/>
            <a:rect r="r" b="b" t="t" l="l"/>
            <a:pathLst>
              <a:path h="437279" w="218756">
                <a:moveTo>
                  <a:pt x="0" y="0"/>
                </a:moveTo>
                <a:lnTo>
                  <a:pt x="218756" y="0"/>
                </a:lnTo>
                <a:lnTo>
                  <a:pt x="218756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 l="0" t="0" r="0" b="0"/>
            </a:stretch>
          </a:blipFill>
        </p:spPr>
      </p:sp>
      <p:sp>
        <p:nvSpPr>
          <p:cNvPr name="TextBox 38" id="38"/>
          <p:cNvSpPr txBox="true"/>
          <p:nvPr/>
        </p:nvSpPr>
        <p:spPr>
          <a:xfrm rot="0">
            <a:off x="11956207" y="8627401"/>
            <a:ext cx="955337" cy="400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34"/>
              </a:lnSpc>
            </a:pPr>
            <a:r>
              <a:rPr lang="en-US" b="true" sz="2759" spc="-55">
                <a:solidFill>
                  <a:srgbClr val="1982D6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REACT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283104" y="3551898"/>
            <a:ext cx="756707" cy="400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34"/>
              </a:lnSpc>
            </a:pPr>
            <a:r>
              <a:rPr lang="en-US" b="true" sz="2759" spc="-55">
                <a:solidFill>
                  <a:srgbClr val="FFFFFF">
                    <a:alpha val="80000"/>
                  </a:srgbClr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USER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7347314" y="3561495"/>
            <a:ext cx="469053" cy="381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18"/>
              </a:lnSpc>
            </a:pPr>
            <a:r>
              <a:rPr lang="en-US" b="true" sz="2654" spc="-53">
                <a:solidFill>
                  <a:srgbClr val="1982D6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API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27838" y="684632"/>
            <a:ext cx="8115444" cy="8762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23"/>
              </a:lnSpc>
            </a:pPr>
            <a:r>
              <a:rPr lang="en-US" sz="6723">
                <a:solidFill>
                  <a:srgbClr val="FFFFFF">
                    <a:alpha val="89804"/>
                  </a:srgbClr>
                </a:solidFill>
                <a:latin typeface="Anton"/>
                <a:ea typeface="Anton"/>
                <a:cs typeface="Anton"/>
                <a:sym typeface="Anton"/>
              </a:rPr>
              <a:t>FROM INCIDENT TO ACTION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426574" y="1705390"/>
            <a:ext cx="5457962" cy="6012593"/>
          </a:xfrm>
          <a:custGeom>
            <a:avLst/>
            <a:gdLst/>
            <a:ahLst/>
            <a:cxnLst/>
            <a:rect r="r" b="b" t="t" l="l"/>
            <a:pathLst>
              <a:path h="6012593" w="5457962">
                <a:moveTo>
                  <a:pt x="0" y="0"/>
                </a:moveTo>
                <a:lnTo>
                  <a:pt x="5457962" y="0"/>
                </a:lnTo>
                <a:lnTo>
                  <a:pt x="5457962" y="6012593"/>
                </a:lnTo>
                <a:lnTo>
                  <a:pt x="0" y="601259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885804" y="2289082"/>
            <a:ext cx="2502437" cy="2650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6"/>
              </a:lnSpc>
            </a:pPr>
            <a:r>
              <a:rPr lang="en-US" sz="2096" b="true">
                <a:solidFill>
                  <a:srgbClr val="FFFFFF">
                    <a:alpha val="89804"/>
                  </a:srgbClr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INCIDENT </a:t>
            </a:r>
            <a:r>
              <a:rPr lang="en-US" sz="2096" b="true">
                <a:solidFill>
                  <a:srgbClr val="0094FF">
                    <a:alpha val="89804"/>
                  </a:srgbClr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DASHBOARD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864086" y="2776725"/>
            <a:ext cx="4582938" cy="229572"/>
          </a:xfrm>
          <a:custGeom>
            <a:avLst/>
            <a:gdLst/>
            <a:ahLst/>
            <a:cxnLst/>
            <a:rect r="r" b="b" t="t" l="l"/>
            <a:pathLst>
              <a:path h="229572" w="4582938">
                <a:moveTo>
                  <a:pt x="0" y="0"/>
                </a:moveTo>
                <a:lnTo>
                  <a:pt x="4582938" y="0"/>
                </a:lnTo>
                <a:lnTo>
                  <a:pt x="4582938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890439" y="3074156"/>
            <a:ext cx="2038937" cy="2309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4"/>
              </a:lnSpc>
            </a:pPr>
            <a:r>
              <a:rPr lang="en-US" sz="1784">
                <a:solidFill>
                  <a:srgbClr val="0094FF">
                    <a:alpha val="89804"/>
                  </a:srgbClr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ALERTS BY PRIORITY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864086" y="3421712"/>
            <a:ext cx="4582938" cy="1300906"/>
          </a:xfrm>
          <a:custGeom>
            <a:avLst/>
            <a:gdLst/>
            <a:ahLst/>
            <a:cxnLst/>
            <a:rect r="r" b="b" t="t" l="l"/>
            <a:pathLst>
              <a:path h="1300906" w="4582938">
                <a:moveTo>
                  <a:pt x="0" y="0"/>
                </a:moveTo>
                <a:lnTo>
                  <a:pt x="4582938" y="0"/>
                </a:lnTo>
                <a:lnTo>
                  <a:pt x="4582938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864086" y="3640352"/>
            <a:ext cx="1104718" cy="1082267"/>
          </a:xfrm>
          <a:custGeom>
            <a:avLst/>
            <a:gdLst/>
            <a:ahLst/>
            <a:cxnLst/>
            <a:rect r="r" b="b" t="t" l="l"/>
            <a:pathLst>
              <a:path h="1082267" w="1104718">
                <a:moveTo>
                  <a:pt x="0" y="0"/>
                </a:moveTo>
                <a:lnTo>
                  <a:pt x="1104718" y="0"/>
                </a:lnTo>
                <a:lnTo>
                  <a:pt x="1104718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158068" y="3797020"/>
            <a:ext cx="1184619" cy="3167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51"/>
              </a:lnSpc>
            </a:pPr>
            <a:r>
              <a:rPr lang="en-US" sz="2351" b="true">
                <a:solidFill>
                  <a:srgbClr val="D81919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CRITICAL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521002" y="3865828"/>
            <a:ext cx="634920" cy="663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21"/>
              </a:lnSpc>
            </a:pPr>
            <a:r>
              <a:rPr lang="en-US" sz="4921" b="true">
                <a:solidFill>
                  <a:srgbClr val="D81919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12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864086" y="4711687"/>
            <a:ext cx="4582938" cy="1289974"/>
          </a:xfrm>
          <a:custGeom>
            <a:avLst/>
            <a:gdLst/>
            <a:ahLst/>
            <a:cxnLst/>
            <a:rect r="r" b="b" t="t" l="l"/>
            <a:pathLst>
              <a:path h="1289974" w="4582938">
                <a:moveTo>
                  <a:pt x="0" y="0"/>
                </a:moveTo>
                <a:lnTo>
                  <a:pt x="4582938" y="0"/>
                </a:lnTo>
                <a:lnTo>
                  <a:pt x="4582938" y="1289974"/>
                </a:lnTo>
                <a:lnTo>
                  <a:pt x="0" y="128997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864086" y="4919394"/>
            <a:ext cx="1104718" cy="1082267"/>
          </a:xfrm>
          <a:custGeom>
            <a:avLst/>
            <a:gdLst/>
            <a:ahLst/>
            <a:cxnLst/>
            <a:rect r="r" b="b" t="t" l="l"/>
            <a:pathLst>
              <a:path h="1082267" w="1104718">
                <a:moveTo>
                  <a:pt x="0" y="0"/>
                </a:moveTo>
                <a:lnTo>
                  <a:pt x="1104718" y="0"/>
                </a:lnTo>
                <a:lnTo>
                  <a:pt x="1104718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4521002" y="5161061"/>
            <a:ext cx="634920" cy="663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21"/>
              </a:lnSpc>
            </a:pPr>
            <a:r>
              <a:rPr lang="en-US" sz="4921" b="true">
                <a:solidFill>
                  <a:srgbClr val="E8570D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23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864086" y="5990729"/>
            <a:ext cx="4582938" cy="1300906"/>
          </a:xfrm>
          <a:custGeom>
            <a:avLst/>
            <a:gdLst/>
            <a:ahLst/>
            <a:cxnLst/>
            <a:rect r="r" b="b" t="t" l="l"/>
            <a:pathLst>
              <a:path h="1300906" w="4582938">
                <a:moveTo>
                  <a:pt x="0" y="0"/>
                </a:moveTo>
                <a:lnTo>
                  <a:pt x="4582938" y="0"/>
                </a:lnTo>
                <a:lnTo>
                  <a:pt x="4582938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864086" y="6209369"/>
            <a:ext cx="1104718" cy="1082267"/>
          </a:xfrm>
          <a:custGeom>
            <a:avLst/>
            <a:gdLst/>
            <a:ahLst/>
            <a:cxnLst/>
            <a:rect r="r" b="b" t="t" l="l"/>
            <a:pathLst>
              <a:path h="1082267" w="1104718">
                <a:moveTo>
                  <a:pt x="0" y="0"/>
                </a:moveTo>
                <a:lnTo>
                  <a:pt x="1104718" y="0"/>
                </a:lnTo>
                <a:lnTo>
                  <a:pt x="1104718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4521002" y="6501475"/>
            <a:ext cx="634920" cy="663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21"/>
              </a:lnSpc>
            </a:pPr>
            <a:r>
              <a:rPr lang="en-US" sz="4921" b="true">
                <a:solidFill>
                  <a:srgbClr val="EDC013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41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6092354" y="1705390"/>
            <a:ext cx="5665780" cy="6012593"/>
          </a:xfrm>
          <a:custGeom>
            <a:avLst/>
            <a:gdLst/>
            <a:ahLst/>
            <a:cxnLst/>
            <a:rect r="r" b="b" t="t" l="l"/>
            <a:pathLst>
              <a:path h="6012593" w="5665780">
                <a:moveTo>
                  <a:pt x="0" y="0"/>
                </a:moveTo>
                <a:lnTo>
                  <a:pt x="5665780" y="0"/>
                </a:lnTo>
                <a:lnTo>
                  <a:pt x="5665780" y="6012593"/>
                </a:lnTo>
                <a:lnTo>
                  <a:pt x="0" y="6012593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6540388" y="2289082"/>
            <a:ext cx="2293199" cy="2650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6"/>
              </a:lnSpc>
            </a:pPr>
            <a:r>
              <a:rPr lang="en-US" sz="2096" b="true">
                <a:solidFill>
                  <a:srgbClr val="FFFFFF">
                    <a:alpha val="89804"/>
                  </a:srgbClr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NETWORK </a:t>
            </a:r>
            <a:r>
              <a:rPr lang="en-US" sz="2096" b="true">
                <a:solidFill>
                  <a:srgbClr val="0094FF">
                    <a:alpha val="89804"/>
                  </a:srgbClr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ANALYSIS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6529866" y="2776725"/>
            <a:ext cx="5009512" cy="229572"/>
          </a:xfrm>
          <a:custGeom>
            <a:avLst/>
            <a:gdLst/>
            <a:ahLst/>
            <a:cxnLst/>
            <a:rect r="r" b="b" t="t" l="l"/>
            <a:pathLst>
              <a:path h="229572" w="5009512">
                <a:moveTo>
                  <a:pt x="0" y="0"/>
                </a:moveTo>
                <a:lnTo>
                  <a:pt x="5009512" y="0"/>
                </a:lnTo>
                <a:lnTo>
                  <a:pt x="5009512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6543795" y="3074156"/>
            <a:ext cx="1952531" cy="2309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4"/>
              </a:lnSpc>
            </a:pPr>
            <a:r>
              <a:rPr lang="en-US" sz="1784">
                <a:solidFill>
                  <a:srgbClr val="0094FF">
                    <a:alpha val="89804"/>
                  </a:srgbClr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BLAST RADIUS VIEW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6529866" y="3640352"/>
            <a:ext cx="2832890" cy="3432644"/>
          </a:xfrm>
          <a:custGeom>
            <a:avLst/>
            <a:gdLst/>
            <a:ahLst/>
            <a:cxnLst/>
            <a:rect r="r" b="b" t="t" l="l"/>
            <a:pathLst>
              <a:path h="3432644" w="2832890">
                <a:moveTo>
                  <a:pt x="0" y="0"/>
                </a:moveTo>
                <a:lnTo>
                  <a:pt x="2832890" y="0"/>
                </a:lnTo>
                <a:lnTo>
                  <a:pt x="2832890" y="3432644"/>
                </a:lnTo>
                <a:lnTo>
                  <a:pt x="0" y="3432644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9570574" y="3421712"/>
            <a:ext cx="1968804" cy="3224936"/>
          </a:xfrm>
          <a:custGeom>
            <a:avLst/>
            <a:gdLst/>
            <a:ahLst/>
            <a:cxnLst/>
            <a:rect r="r" b="b" t="t" l="l"/>
            <a:pathLst>
              <a:path h="3224936" w="1968804">
                <a:moveTo>
                  <a:pt x="0" y="0"/>
                </a:moveTo>
                <a:lnTo>
                  <a:pt x="1968804" y="0"/>
                </a:lnTo>
                <a:lnTo>
                  <a:pt x="1968804" y="3224936"/>
                </a:lnTo>
                <a:lnTo>
                  <a:pt x="0" y="3224936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9789330" y="3848060"/>
            <a:ext cx="448450" cy="448211"/>
          </a:xfrm>
          <a:custGeom>
            <a:avLst/>
            <a:gdLst/>
            <a:ahLst/>
            <a:cxnLst/>
            <a:rect r="r" b="b" t="t" l="l"/>
            <a:pathLst>
              <a:path h="448211" w="448450">
                <a:moveTo>
                  <a:pt x="0" y="0"/>
                </a:moveTo>
                <a:lnTo>
                  <a:pt x="448450" y="0"/>
                </a:lnTo>
                <a:lnTo>
                  <a:pt x="448450" y="448211"/>
                </a:lnTo>
                <a:lnTo>
                  <a:pt x="0" y="448211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10248596" y="3933611"/>
            <a:ext cx="1161524" cy="499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3"/>
              </a:lnSpc>
            </a:pPr>
            <a:r>
              <a:rPr lang="en-US" sz="1652">
                <a:solidFill>
                  <a:srgbClr val="FFFFFF">
                    <a:alpha val="89804"/>
                  </a:srgbClr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Compromised Node</a:t>
            </a:r>
          </a:p>
        </p:txBody>
      </p:sp>
      <p:sp>
        <p:nvSpPr>
          <p:cNvPr name="Freeform 26" id="26"/>
          <p:cNvSpPr/>
          <p:nvPr/>
        </p:nvSpPr>
        <p:spPr>
          <a:xfrm flipH="false" flipV="false" rot="0">
            <a:off x="9789330" y="4711687"/>
            <a:ext cx="448450" cy="437279"/>
          </a:xfrm>
          <a:custGeom>
            <a:avLst/>
            <a:gdLst/>
            <a:ahLst/>
            <a:cxnLst/>
            <a:rect r="r" b="b" t="t" l="l"/>
            <a:pathLst>
              <a:path h="437279" w="448450">
                <a:moveTo>
                  <a:pt x="0" y="0"/>
                </a:moveTo>
                <a:lnTo>
                  <a:pt x="448450" y="0"/>
                </a:lnTo>
                <a:lnTo>
                  <a:pt x="448450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10252433" y="4807140"/>
            <a:ext cx="777764" cy="499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3"/>
              </a:lnSpc>
            </a:pPr>
            <a:r>
              <a:rPr lang="en-US" sz="1652">
                <a:solidFill>
                  <a:srgbClr val="FFFFFF">
                    <a:alpha val="89804"/>
                  </a:srgbClr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BFS</a:t>
            </a:r>
          </a:p>
          <a:p>
            <a:pPr algn="l">
              <a:lnSpc>
                <a:spcPts val="1983"/>
              </a:lnSpc>
            </a:pPr>
            <a:r>
              <a:rPr lang="en-US" sz="1652">
                <a:solidFill>
                  <a:srgbClr val="FFFFFF">
                    <a:alpha val="89804"/>
                  </a:srgbClr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Traversal</a:t>
            </a:r>
          </a:p>
        </p:txBody>
      </p:sp>
      <p:sp>
        <p:nvSpPr>
          <p:cNvPr name="Freeform 28" id="28"/>
          <p:cNvSpPr/>
          <p:nvPr/>
        </p:nvSpPr>
        <p:spPr>
          <a:xfrm flipH="false" flipV="false" rot="0">
            <a:off x="9789330" y="5564382"/>
            <a:ext cx="448450" cy="437279"/>
          </a:xfrm>
          <a:custGeom>
            <a:avLst/>
            <a:gdLst/>
            <a:ahLst/>
            <a:cxnLst/>
            <a:rect r="r" b="b" t="t" l="l"/>
            <a:pathLst>
              <a:path h="437279" w="448450">
                <a:moveTo>
                  <a:pt x="0" y="0"/>
                </a:moveTo>
                <a:lnTo>
                  <a:pt x="448450" y="0"/>
                </a:lnTo>
                <a:lnTo>
                  <a:pt x="448450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10253055" y="5695730"/>
            <a:ext cx="715624" cy="499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3"/>
              </a:lnSpc>
            </a:pPr>
            <a:r>
              <a:rPr lang="en-US" sz="1652">
                <a:solidFill>
                  <a:srgbClr val="FFFFFF">
                    <a:alpha val="89804"/>
                  </a:srgbClr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Affected</a:t>
            </a:r>
          </a:p>
          <a:p>
            <a:pPr algn="l">
              <a:lnSpc>
                <a:spcPts val="1983"/>
              </a:lnSpc>
            </a:pPr>
            <a:r>
              <a:rPr lang="en-US" sz="1652">
                <a:solidFill>
                  <a:srgbClr val="FFFFFF">
                    <a:alpha val="89804"/>
                  </a:srgbClr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Systems</a:t>
            </a:r>
          </a:p>
        </p:txBody>
      </p:sp>
      <p:sp>
        <p:nvSpPr>
          <p:cNvPr name="Freeform 30" id="30"/>
          <p:cNvSpPr/>
          <p:nvPr/>
        </p:nvSpPr>
        <p:spPr>
          <a:xfrm flipH="false" flipV="false" rot="0">
            <a:off x="11965952" y="1705390"/>
            <a:ext cx="5895474" cy="6012593"/>
          </a:xfrm>
          <a:custGeom>
            <a:avLst/>
            <a:gdLst/>
            <a:ahLst/>
            <a:cxnLst/>
            <a:rect r="r" b="b" t="t" l="l"/>
            <a:pathLst>
              <a:path h="6012593" w="5895474">
                <a:moveTo>
                  <a:pt x="0" y="0"/>
                </a:moveTo>
                <a:lnTo>
                  <a:pt x="5895474" y="0"/>
                </a:lnTo>
                <a:lnTo>
                  <a:pt x="5895474" y="6012593"/>
                </a:lnTo>
                <a:lnTo>
                  <a:pt x="0" y="6012593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TextBox 31" id="31"/>
          <p:cNvSpPr txBox="true"/>
          <p:nvPr/>
        </p:nvSpPr>
        <p:spPr>
          <a:xfrm rot="0">
            <a:off x="12494117" y="2270757"/>
            <a:ext cx="1637562" cy="2826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9"/>
              </a:lnSpc>
            </a:pPr>
            <a:r>
              <a:rPr lang="en-US" sz="2039" b="true">
                <a:solidFill>
                  <a:srgbClr val="FFFFFF">
                    <a:alpha val="89804"/>
                  </a:srgbClr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CONTAINMENT</a:t>
            </a:r>
          </a:p>
        </p:txBody>
      </p:sp>
      <p:sp>
        <p:nvSpPr>
          <p:cNvPr name="Freeform 32" id="32"/>
          <p:cNvSpPr/>
          <p:nvPr/>
        </p:nvSpPr>
        <p:spPr>
          <a:xfrm flipH="false" flipV="false" rot="0">
            <a:off x="12403464" y="2776725"/>
            <a:ext cx="5020450" cy="229572"/>
          </a:xfrm>
          <a:custGeom>
            <a:avLst/>
            <a:gdLst/>
            <a:ahLst/>
            <a:cxnLst/>
            <a:rect r="r" b="b" t="t" l="l"/>
            <a:pathLst>
              <a:path h="229572" w="5020450">
                <a:moveTo>
                  <a:pt x="0" y="0"/>
                </a:moveTo>
                <a:lnTo>
                  <a:pt x="5020450" y="0"/>
                </a:lnTo>
                <a:lnTo>
                  <a:pt x="5020450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TextBox 33" id="33"/>
          <p:cNvSpPr txBox="true"/>
          <p:nvPr/>
        </p:nvSpPr>
        <p:spPr>
          <a:xfrm rot="0">
            <a:off x="12489996" y="3074156"/>
            <a:ext cx="2049590" cy="2309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4"/>
              </a:lnSpc>
            </a:pPr>
            <a:r>
              <a:rPr lang="en-US" sz="1784">
                <a:solidFill>
                  <a:srgbClr val="0094FF">
                    <a:alpha val="89804"/>
                  </a:srgbClr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RESPONSE PLANNER</a:t>
            </a:r>
          </a:p>
        </p:txBody>
      </p:sp>
      <p:sp>
        <p:nvSpPr>
          <p:cNvPr name="Freeform 34" id="34"/>
          <p:cNvSpPr/>
          <p:nvPr/>
        </p:nvSpPr>
        <p:spPr>
          <a:xfrm flipH="false" flipV="false" rot="0">
            <a:off x="12403464" y="3640352"/>
            <a:ext cx="3062584" cy="3432644"/>
          </a:xfrm>
          <a:custGeom>
            <a:avLst/>
            <a:gdLst/>
            <a:ahLst/>
            <a:cxnLst/>
            <a:rect r="r" b="b" t="t" l="l"/>
            <a:pathLst>
              <a:path h="3432644" w="3062584">
                <a:moveTo>
                  <a:pt x="0" y="0"/>
                </a:moveTo>
                <a:lnTo>
                  <a:pt x="3062584" y="0"/>
                </a:lnTo>
                <a:lnTo>
                  <a:pt x="3062584" y="3432644"/>
                </a:lnTo>
                <a:lnTo>
                  <a:pt x="0" y="3432644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0" t="0" r="0" b="0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false" rot="0">
            <a:off x="15455110" y="3421712"/>
            <a:ext cx="1968804" cy="3869923"/>
          </a:xfrm>
          <a:custGeom>
            <a:avLst/>
            <a:gdLst/>
            <a:ahLst/>
            <a:cxnLst/>
            <a:rect r="r" b="b" t="t" l="l"/>
            <a:pathLst>
              <a:path h="3869923" w="1968804">
                <a:moveTo>
                  <a:pt x="0" y="0"/>
                </a:moveTo>
                <a:lnTo>
                  <a:pt x="1968804" y="0"/>
                </a:lnTo>
                <a:lnTo>
                  <a:pt x="1968804" y="3869923"/>
                </a:lnTo>
                <a:lnTo>
                  <a:pt x="0" y="3869923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0" t="0" r="0" b="0"/>
            </a:stretch>
          </a:blipFill>
        </p:spPr>
      </p:sp>
      <p:sp>
        <p:nvSpPr>
          <p:cNvPr name="TextBox 36" id="36"/>
          <p:cNvSpPr txBox="true"/>
          <p:nvPr/>
        </p:nvSpPr>
        <p:spPr>
          <a:xfrm rot="0">
            <a:off x="15713639" y="3721772"/>
            <a:ext cx="1154048" cy="2309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4"/>
              </a:lnSpc>
            </a:pPr>
            <a:r>
              <a:rPr lang="en-US" sz="1784">
                <a:solidFill>
                  <a:srgbClr val="0094FF">
                    <a:alpha val="89804"/>
                  </a:srgbClr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ALGORITHM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5708893" y="4670605"/>
            <a:ext cx="1628687" cy="2309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4"/>
              </a:lnSpc>
            </a:pPr>
            <a:r>
              <a:rPr lang="en-US" sz="1784">
                <a:solidFill>
                  <a:srgbClr val="0094FF">
                    <a:alpha val="89804"/>
                  </a:srgbClr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SHORTEST PATH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6041791" y="5168797"/>
            <a:ext cx="485706" cy="2618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4"/>
              </a:lnSpc>
            </a:pPr>
            <a:r>
              <a:rPr lang="en-US" sz="1924">
                <a:solidFill>
                  <a:srgbClr val="FFFFFF">
                    <a:alpha val="89804"/>
                  </a:srgbClr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hops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5706308" y="5770046"/>
            <a:ext cx="1887194" cy="2309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4"/>
              </a:lnSpc>
            </a:pPr>
            <a:r>
              <a:rPr lang="en-US" sz="1784">
                <a:solidFill>
                  <a:srgbClr val="0094FF">
                    <a:alpha val="89804"/>
                  </a:srgbClr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RECOMMENDATION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5711557" y="6074439"/>
            <a:ext cx="1362317" cy="7591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6"/>
              </a:lnSpc>
            </a:pPr>
            <a:r>
              <a:rPr lang="en-US" sz="1705">
                <a:solidFill>
                  <a:srgbClr val="FFFFFF">
                    <a:alpha val="89804"/>
                  </a:srgbClr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Isolate the path and contain the target</a:t>
            </a:r>
          </a:p>
        </p:txBody>
      </p:sp>
      <p:sp>
        <p:nvSpPr>
          <p:cNvPr name="Freeform 41" id="41"/>
          <p:cNvSpPr/>
          <p:nvPr/>
        </p:nvSpPr>
        <p:spPr>
          <a:xfrm flipH="false" flipV="false" rot="0">
            <a:off x="5436086" y="4493047"/>
            <a:ext cx="885962" cy="437279"/>
          </a:xfrm>
          <a:custGeom>
            <a:avLst/>
            <a:gdLst/>
            <a:ahLst/>
            <a:cxnLst/>
            <a:rect r="r" b="b" t="t" l="l"/>
            <a:pathLst>
              <a:path h="437279" w="885962">
                <a:moveTo>
                  <a:pt x="0" y="0"/>
                </a:moveTo>
                <a:lnTo>
                  <a:pt x="885962" y="0"/>
                </a:lnTo>
                <a:lnTo>
                  <a:pt x="885962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l="0" t="0" r="0" b="0"/>
            </a:stretch>
          </a:blipFill>
        </p:spPr>
      </p:sp>
      <p:sp>
        <p:nvSpPr>
          <p:cNvPr name="Freeform 42" id="42"/>
          <p:cNvSpPr/>
          <p:nvPr/>
        </p:nvSpPr>
        <p:spPr>
          <a:xfrm flipH="false" flipV="false" rot="0">
            <a:off x="11528440" y="4493047"/>
            <a:ext cx="885962" cy="437279"/>
          </a:xfrm>
          <a:custGeom>
            <a:avLst/>
            <a:gdLst/>
            <a:ahLst/>
            <a:cxnLst/>
            <a:rect r="r" b="b" t="t" l="l"/>
            <a:pathLst>
              <a:path h="437279" w="885962">
                <a:moveTo>
                  <a:pt x="0" y="0"/>
                </a:moveTo>
                <a:lnTo>
                  <a:pt x="885962" y="0"/>
                </a:lnTo>
                <a:lnTo>
                  <a:pt x="885962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 l="0" t="0" r="0" b="0"/>
            </a:stretch>
          </a:blipFill>
        </p:spPr>
      </p:sp>
      <p:sp>
        <p:nvSpPr>
          <p:cNvPr name="Freeform 43" id="43"/>
          <p:cNvSpPr/>
          <p:nvPr/>
        </p:nvSpPr>
        <p:spPr>
          <a:xfrm flipH="false" flipV="false" rot="0">
            <a:off x="864086" y="8133399"/>
            <a:ext cx="885962" cy="1082267"/>
          </a:xfrm>
          <a:custGeom>
            <a:avLst/>
            <a:gdLst/>
            <a:ahLst/>
            <a:cxnLst/>
            <a:rect r="r" b="b" t="t" l="l"/>
            <a:pathLst>
              <a:path h="1082267" w="885962">
                <a:moveTo>
                  <a:pt x="0" y="0"/>
                </a:moveTo>
                <a:lnTo>
                  <a:pt x="885962" y="0"/>
                </a:lnTo>
                <a:lnTo>
                  <a:pt x="885962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 l="0" t="0" r="0" b="0"/>
            </a:stretch>
          </a:blipFill>
        </p:spPr>
      </p:sp>
      <p:sp>
        <p:nvSpPr>
          <p:cNvPr name="TextBox 44" id="44"/>
          <p:cNvSpPr txBox="true"/>
          <p:nvPr/>
        </p:nvSpPr>
        <p:spPr>
          <a:xfrm rot="0">
            <a:off x="1951525" y="8405693"/>
            <a:ext cx="3086563" cy="3159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20"/>
              </a:lnSpc>
            </a:pPr>
            <a:r>
              <a:rPr lang="en-US" sz="2320" b="true">
                <a:solidFill>
                  <a:srgbClr val="FFFFFF">
                    <a:alpha val="89804"/>
                  </a:srgbClr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FASTER PRIORITIZATION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952503" y="8812722"/>
            <a:ext cx="2988730" cy="3307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84"/>
              </a:lnSpc>
            </a:pPr>
            <a:r>
              <a:rPr lang="en-US" sz="2153">
                <a:solidFill>
                  <a:srgbClr val="FFFFFF">
                    <a:alpha val="89804"/>
                  </a:srgbClr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Focus on what matters first</a:t>
            </a:r>
          </a:p>
        </p:txBody>
      </p:sp>
      <p:sp>
        <p:nvSpPr>
          <p:cNvPr name="Freeform 46" id="46"/>
          <p:cNvSpPr/>
          <p:nvPr/>
        </p:nvSpPr>
        <p:spPr>
          <a:xfrm flipH="false" flipV="false" rot="0">
            <a:off x="5873598" y="7925691"/>
            <a:ext cx="229694" cy="1508614"/>
          </a:xfrm>
          <a:custGeom>
            <a:avLst/>
            <a:gdLst/>
            <a:ahLst/>
            <a:cxnLst/>
            <a:rect r="r" b="b" t="t" l="l"/>
            <a:pathLst>
              <a:path h="1508614" w="229694">
                <a:moveTo>
                  <a:pt x="0" y="0"/>
                </a:moveTo>
                <a:lnTo>
                  <a:pt x="229694" y="0"/>
                </a:lnTo>
                <a:lnTo>
                  <a:pt x="229694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>
              <a:fillRect l="0" t="0" r="0" b="0"/>
            </a:stretch>
          </a:blipFill>
        </p:spPr>
      </p:sp>
      <p:sp>
        <p:nvSpPr>
          <p:cNvPr name="Freeform 47" id="47"/>
          <p:cNvSpPr/>
          <p:nvPr/>
        </p:nvSpPr>
        <p:spPr>
          <a:xfrm flipH="false" flipV="false" rot="0">
            <a:off x="6311110" y="8133399"/>
            <a:ext cx="875024" cy="1082267"/>
          </a:xfrm>
          <a:custGeom>
            <a:avLst/>
            <a:gdLst/>
            <a:ahLst/>
            <a:cxnLst/>
            <a:rect r="r" b="b" t="t" l="l"/>
            <a:pathLst>
              <a:path h="1082267" w="875024">
                <a:moveTo>
                  <a:pt x="0" y="0"/>
                </a:moveTo>
                <a:lnTo>
                  <a:pt x="875024" y="0"/>
                </a:lnTo>
                <a:lnTo>
                  <a:pt x="875024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>
              <a:fillRect l="0" t="0" r="0" b="0"/>
            </a:stretch>
          </a:blipFill>
        </p:spPr>
      </p:sp>
      <p:sp>
        <p:nvSpPr>
          <p:cNvPr name="TextBox 48" id="48"/>
          <p:cNvSpPr txBox="true"/>
          <p:nvPr/>
        </p:nvSpPr>
        <p:spPr>
          <a:xfrm rot="0">
            <a:off x="7378705" y="8405401"/>
            <a:ext cx="4186534" cy="326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0"/>
              </a:lnSpc>
            </a:pPr>
            <a:r>
              <a:rPr lang="en-US" sz="2390" b="true">
                <a:solidFill>
                  <a:srgbClr val="FFFFFF">
                    <a:alpha val="89804"/>
                  </a:srgbClr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CLEAR BLAST-RADIUS VISIBILITY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7391648" y="8812722"/>
            <a:ext cx="2892182" cy="3307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84"/>
              </a:lnSpc>
            </a:pPr>
            <a:r>
              <a:rPr lang="en-US" sz="2153">
                <a:solidFill>
                  <a:srgbClr val="FFFFFF">
                    <a:alpha val="89804"/>
                  </a:srgbClr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Understand the full impact</a:t>
            </a:r>
          </a:p>
        </p:txBody>
      </p:sp>
      <p:sp>
        <p:nvSpPr>
          <p:cNvPr name="Freeform 50" id="50"/>
          <p:cNvSpPr/>
          <p:nvPr/>
        </p:nvSpPr>
        <p:spPr>
          <a:xfrm flipH="false" flipV="false" rot="0">
            <a:off x="11965952" y="7925691"/>
            <a:ext cx="229694" cy="1508614"/>
          </a:xfrm>
          <a:custGeom>
            <a:avLst/>
            <a:gdLst/>
            <a:ahLst/>
            <a:cxnLst/>
            <a:rect r="r" b="b" t="t" l="l"/>
            <a:pathLst>
              <a:path h="1508614" w="229694">
                <a:moveTo>
                  <a:pt x="0" y="0"/>
                </a:moveTo>
                <a:lnTo>
                  <a:pt x="229694" y="0"/>
                </a:lnTo>
                <a:lnTo>
                  <a:pt x="229694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>
              <a:fillRect l="0" t="0" r="0" b="0"/>
            </a:stretch>
          </a:blipFill>
        </p:spPr>
      </p:sp>
      <p:sp>
        <p:nvSpPr>
          <p:cNvPr name="Freeform 51" id="51"/>
          <p:cNvSpPr/>
          <p:nvPr/>
        </p:nvSpPr>
        <p:spPr>
          <a:xfrm flipH="false" flipV="false" rot="0">
            <a:off x="12184708" y="8133399"/>
            <a:ext cx="1104718" cy="1082267"/>
          </a:xfrm>
          <a:custGeom>
            <a:avLst/>
            <a:gdLst/>
            <a:ahLst/>
            <a:cxnLst/>
            <a:rect r="r" b="b" t="t" l="l"/>
            <a:pathLst>
              <a:path h="1082267" w="1104718">
                <a:moveTo>
                  <a:pt x="0" y="0"/>
                </a:moveTo>
                <a:lnTo>
                  <a:pt x="1104718" y="0"/>
                </a:lnTo>
                <a:lnTo>
                  <a:pt x="1104718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>
              <a:fillRect l="0" t="0" r="0" b="0"/>
            </a:stretch>
          </a:blipFill>
        </p:spPr>
      </p:sp>
      <p:sp>
        <p:nvSpPr>
          <p:cNvPr name="TextBox 52" id="52"/>
          <p:cNvSpPr txBox="true"/>
          <p:nvPr/>
        </p:nvSpPr>
        <p:spPr>
          <a:xfrm rot="0">
            <a:off x="13384994" y="8405401"/>
            <a:ext cx="3632614" cy="326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0"/>
              </a:lnSpc>
            </a:pPr>
            <a:r>
              <a:rPr lang="en-US" sz="2390" b="true">
                <a:solidFill>
                  <a:srgbClr val="FFFFFF">
                    <a:alpha val="89804"/>
                  </a:srgbClr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EXPLANABLE CONTAINMENT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3389772" y="8812722"/>
            <a:ext cx="3154804" cy="3307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84"/>
              </a:lnSpc>
            </a:pPr>
            <a:r>
              <a:rPr lang="en-US" sz="2153">
                <a:solidFill>
                  <a:srgbClr val="FFFFFF">
                    <a:alpha val="89804"/>
                  </a:srgbClr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Confident actions with clarity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2153521" y="4179520"/>
            <a:ext cx="1639290" cy="251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30"/>
              </a:lnSpc>
            </a:pPr>
            <a:r>
              <a:rPr lang="en-US" sz="1608">
                <a:solidFill>
                  <a:srgbClr val="FFFFFF">
                    <a:alpha val="89804"/>
                  </a:srgbClr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Immediate attention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2157468" y="6800106"/>
            <a:ext cx="1244604" cy="251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30"/>
              </a:lnSpc>
            </a:pPr>
            <a:r>
              <a:rPr lang="en-US" sz="1608">
                <a:solidFill>
                  <a:srgbClr val="FFFFFF">
                    <a:alpha val="89804"/>
                  </a:srgbClr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Monitor closely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2156840" y="5489813"/>
            <a:ext cx="1307426" cy="251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30"/>
              </a:lnSpc>
            </a:pPr>
            <a:r>
              <a:rPr lang="en-US" sz="1608">
                <a:solidFill>
                  <a:srgbClr val="FFFFFF">
                    <a:alpha val="89804"/>
                  </a:srgbClr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Investigate next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5717714" y="4039234"/>
            <a:ext cx="746589" cy="2618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4"/>
              </a:lnSpc>
            </a:pPr>
            <a:r>
              <a:rPr lang="en-US" sz="1924">
                <a:solidFill>
                  <a:srgbClr val="FFFFFF">
                    <a:alpha val="89804"/>
                  </a:srgbClr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Dijkstra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2159619" y="6417606"/>
            <a:ext cx="1029497" cy="3167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51"/>
              </a:lnSpc>
            </a:pPr>
            <a:r>
              <a:rPr lang="en-US" sz="2351" b="true">
                <a:solidFill>
                  <a:srgbClr val="EDC013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MEDIUM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2163567" y="5092252"/>
            <a:ext cx="634728" cy="3167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51"/>
              </a:lnSpc>
            </a:pPr>
            <a:r>
              <a:rPr lang="en-US" sz="2351" b="true">
                <a:solidFill>
                  <a:srgbClr val="E8570D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HIGH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15722771" y="4979828"/>
            <a:ext cx="240909" cy="535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31"/>
              </a:lnSpc>
            </a:pPr>
            <a:r>
              <a:rPr lang="en-US" sz="4031">
                <a:solidFill>
                  <a:srgbClr val="0094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70697" y="1004031"/>
            <a:ext cx="5260763" cy="17681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311"/>
              </a:lnSpc>
            </a:pPr>
            <a:r>
              <a:rPr lang="en-US" sz="13311">
                <a:solidFill>
                  <a:srgbClr val="FFFFFF">
                    <a:alpha val="89804"/>
                  </a:srgbClr>
                </a:solidFill>
                <a:latin typeface="Anton"/>
                <a:ea typeface="Anton"/>
                <a:cs typeface="Anton"/>
                <a:sym typeface="Anton"/>
              </a:rPr>
              <a:t>TRACE-</a:t>
            </a:r>
            <a:r>
              <a:rPr lang="en-US" sz="13311">
                <a:solidFill>
                  <a:srgbClr val="0799FB">
                    <a:alpha val="89804"/>
                  </a:srgbClr>
                </a:solidFill>
                <a:latin typeface="Anton"/>
                <a:ea typeface="Anton"/>
                <a:cs typeface="Anton"/>
                <a:sym typeface="Anton"/>
              </a:rPr>
              <a:t>X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60740" y="2822278"/>
            <a:ext cx="6256458" cy="3828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6"/>
              </a:lnSpc>
            </a:pPr>
            <a:r>
              <a:rPr lang="en-US" sz="2896">
                <a:solidFill>
                  <a:srgbClr val="FFFFFF">
                    <a:alpha val="74902"/>
                  </a:srgbClr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Trace the Threat. Plan the Response.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645330" y="3640352"/>
            <a:ext cx="5895474" cy="1289974"/>
          </a:xfrm>
          <a:custGeom>
            <a:avLst/>
            <a:gdLst/>
            <a:ahLst/>
            <a:cxnLst/>
            <a:rect r="r" b="b" t="t" l="l"/>
            <a:pathLst>
              <a:path h="1289974" w="5895474">
                <a:moveTo>
                  <a:pt x="0" y="0"/>
                </a:moveTo>
                <a:lnTo>
                  <a:pt x="5895474" y="0"/>
                </a:lnTo>
                <a:lnTo>
                  <a:pt x="5895474" y="1289974"/>
                </a:lnTo>
                <a:lnTo>
                  <a:pt x="0" y="128997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48818" y="4057267"/>
            <a:ext cx="4953318" cy="3828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6"/>
              </a:lnSpc>
            </a:pPr>
            <a:r>
              <a:rPr lang="en-US" sz="2896" b="true">
                <a:solidFill>
                  <a:srgbClr val="0799FB">
                    <a:alpha val="74902"/>
                  </a:srgbClr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Priority Queue</a:t>
            </a:r>
            <a:r>
              <a:rPr lang="en-US" sz="2896">
                <a:solidFill>
                  <a:srgbClr val="FFFFFF">
                    <a:alpha val="74902"/>
                  </a:srgbClr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→ What First?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645330" y="4711687"/>
            <a:ext cx="5895474" cy="1289974"/>
          </a:xfrm>
          <a:custGeom>
            <a:avLst/>
            <a:gdLst/>
            <a:ahLst/>
            <a:cxnLst/>
            <a:rect r="r" b="b" t="t" l="l"/>
            <a:pathLst>
              <a:path h="1289974" w="5895474">
                <a:moveTo>
                  <a:pt x="0" y="0"/>
                </a:moveTo>
                <a:lnTo>
                  <a:pt x="5895474" y="0"/>
                </a:lnTo>
                <a:lnTo>
                  <a:pt x="5895474" y="1289974"/>
                </a:lnTo>
                <a:lnTo>
                  <a:pt x="0" y="128997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59952" y="5292256"/>
            <a:ext cx="3839942" cy="3828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6"/>
              </a:lnSpc>
            </a:pPr>
            <a:r>
              <a:rPr lang="en-US" sz="2896" b="true">
                <a:solidFill>
                  <a:srgbClr val="0799FB">
                    <a:alpha val="74902"/>
                  </a:srgbClr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BFS</a:t>
            </a:r>
            <a:r>
              <a:rPr lang="en-US" sz="2896">
                <a:solidFill>
                  <a:srgbClr val="FFFFFF">
                    <a:alpha val="74902"/>
                  </a:srgbClr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→ What’s at Risk?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645330" y="5990729"/>
            <a:ext cx="5895474" cy="1300906"/>
          </a:xfrm>
          <a:custGeom>
            <a:avLst/>
            <a:gdLst/>
            <a:ahLst/>
            <a:cxnLst/>
            <a:rect r="r" b="b" t="t" l="l"/>
            <a:pathLst>
              <a:path h="1300906" w="5895474">
                <a:moveTo>
                  <a:pt x="0" y="0"/>
                </a:moveTo>
                <a:lnTo>
                  <a:pt x="5895474" y="0"/>
                </a:lnTo>
                <a:lnTo>
                  <a:pt x="5895474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051325" y="6527245"/>
            <a:ext cx="4702663" cy="3828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6"/>
              </a:lnSpc>
            </a:pPr>
            <a:r>
              <a:rPr lang="en-US" sz="2896" b="true">
                <a:solidFill>
                  <a:srgbClr val="0799FB">
                    <a:alpha val="74902"/>
                  </a:srgbClr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Dijkstra</a:t>
            </a:r>
            <a:r>
              <a:rPr lang="en-US" sz="2896">
                <a:solidFill>
                  <a:srgbClr val="FFFFFF">
                    <a:alpha val="74902"/>
                  </a:srgbClr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→ How to Contain?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7175196" y="1497682"/>
            <a:ext cx="10467474" cy="4941258"/>
          </a:xfrm>
          <a:custGeom>
            <a:avLst/>
            <a:gdLst/>
            <a:ahLst/>
            <a:cxnLst/>
            <a:rect r="r" b="b" t="t" l="l"/>
            <a:pathLst>
              <a:path h="4941258" w="10467474">
                <a:moveTo>
                  <a:pt x="0" y="0"/>
                </a:moveTo>
                <a:lnTo>
                  <a:pt x="10467474" y="0"/>
                </a:lnTo>
                <a:lnTo>
                  <a:pt x="10467474" y="4941258"/>
                </a:lnTo>
                <a:lnTo>
                  <a:pt x="0" y="494125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6767740" y="7944878"/>
            <a:ext cx="4507489" cy="9815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54"/>
              </a:lnSpc>
            </a:pPr>
            <a:r>
              <a:rPr lang="en-US" sz="7354">
                <a:solidFill>
                  <a:srgbClr val="0799FB">
                    <a:alpha val="89804"/>
                  </a:srgbClr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THANK YOU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6311110" y="8997026"/>
            <a:ext cx="229694" cy="655919"/>
          </a:xfrm>
          <a:custGeom>
            <a:avLst/>
            <a:gdLst/>
            <a:ahLst/>
            <a:cxnLst/>
            <a:rect r="r" b="b" t="t" l="l"/>
            <a:pathLst>
              <a:path h="655919" w="229694">
                <a:moveTo>
                  <a:pt x="0" y="0"/>
                </a:moveTo>
                <a:lnTo>
                  <a:pt x="229694" y="0"/>
                </a:lnTo>
                <a:lnTo>
                  <a:pt x="229694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6716440" y="9183433"/>
            <a:ext cx="1808489" cy="371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9"/>
              </a:lnSpc>
            </a:pPr>
            <a:r>
              <a:rPr lang="en-US" sz="2759">
                <a:solidFill>
                  <a:srgbClr val="FFFFFF">
                    <a:alpha val="74902"/>
                  </a:srgbClr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Priya Desai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8925244" y="8997026"/>
            <a:ext cx="218756" cy="655919"/>
          </a:xfrm>
          <a:custGeom>
            <a:avLst/>
            <a:gdLst/>
            <a:ahLst/>
            <a:cxnLst/>
            <a:rect r="r" b="b" t="t" l="l"/>
            <a:pathLst>
              <a:path h="655919" w="218756">
                <a:moveTo>
                  <a:pt x="0" y="0"/>
                </a:moveTo>
                <a:lnTo>
                  <a:pt x="218756" y="0"/>
                </a:lnTo>
                <a:lnTo>
                  <a:pt x="218756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9411662" y="9183433"/>
            <a:ext cx="2150905" cy="371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9"/>
              </a:lnSpc>
            </a:pPr>
            <a:r>
              <a:rPr lang="en-US" sz="2759">
                <a:solidFill>
                  <a:srgbClr val="FFFFFF">
                    <a:alpha val="74902"/>
                  </a:srgbClr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Rohan Mehta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11747196" y="8997026"/>
            <a:ext cx="229694" cy="655919"/>
          </a:xfrm>
          <a:custGeom>
            <a:avLst/>
            <a:gdLst/>
            <a:ahLst/>
            <a:cxnLst/>
            <a:rect r="r" b="b" t="t" l="l"/>
            <a:pathLst>
              <a:path h="655919" w="229694">
                <a:moveTo>
                  <a:pt x="0" y="0"/>
                </a:moveTo>
                <a:lnTo>
                  <a:pt x="229694" y="0"/>
                </a:lnTo>
                <a:lnTo>
                  <a:pt x="229694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2323165" y="9183433"/>
            <a:ext cx="2007179" cy="371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9"/>
              </a:lnSpc>
            </a:pPr>
            <a:r>
              <a:rPr lang="en-US" sz="2759">
                <a:solidFill>
                  <a:srgbClr val="FFFFFF">
                    <a:alpha val="74902"/>
                  </a:srgbClr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Neha Verma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DAHW7SR7uoY</dc:identifier>
  <dcterms:modified xsi:type="dcterms:W3CDTF">2011-08-01T06:04:30Z</dcterms:modified>
  <cp:revision>1</cp:revision>
  <dc:title>TRACE-X Hackathon</dc:title>
</cp:coreProperties>
</file>